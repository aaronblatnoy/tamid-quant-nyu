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216" y="1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[ SERIES A ]</c:v>
                </c:pt>
              </c:strCache>
            </c:strRef>
          </c:tx>
          <c:spPr>
            <a:ln w="38100" cap="flat">
              <a:solidFill>
                <a:srgbClr val="42B5E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2B5E8"/>
              </a:solidFill>
              <a:ln w="9525" cap="flat">
                <a:solidFill>
                  <a:srgbClr val="42B5E8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Q1</c:v>
                </c:pt>
                <c:pt idx="5">
                  <c:v>Q2</c:v>
                </c:pt>
                <c:pt idx="6">
                  <c:v>Q3</c:v>
                </c:pt>
                <c:pt idx="7">
                  <c:v>Q4</c:v>
                </c:pt>
                <c:pt idx="8">
                  <c:v>Q1</c:v>
                </c:pt>
                <c:pt idx="9">
                  <c:v>Q2</c:v>
                </c:pt>
                <c:pt idx="10">
                  <c:v>Q3</c:v>
                </c:pt>
                <c:pt idx="11">
                  <c:v>Q4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4.2</c:v>
                </c:pt>
                <c:pt idx="2">
                  <c:v>8.1</c:v>
                </c:pt>
                <c:pt idx="3">
                  <c:v>11.3</c:v>
                </c:pt>
                <c:pt idx="4">
                  <c:v>9.8000000000000007</c:v>
                </c:pt>
                <c:pt idx="5">
                  <c:v>14.5</c:v>
                </c:pt>
                <c:pt idx="6">
                  <c:v>18.2</c:v>
                </c:pt>
                <c:pt idx="7">
                  <c:v>21.4</c:v>
                </c:pt>
                <c:pt idx="8">
                  <c:v>25.8</c:v>
                </c:pt>
                <c:pt idx="9">
                  <c:v>29.3</c:v>
                </c:pt>
                <c:pt idx="10">
                  <c:v>32.1</c:v>
                </c:pt>
                <c:pt idx="11">
                  <c:v>36.4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E52-4943-A522-4FB1E701C5F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[ SERIES B ]</c:v>
                </c:pt>
              </c:strCache>
            </c:strRef>
          </c:tx>
          <c:spPr>
            <a:ln w="38100" cap="flat">
              <a:solidFill>
                <a:srgbClr val="8888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888888"/>
              </a:solidFill>
              <a:ln w="9525" cap="flat">
                <a:solidFill>
                  <a:srgbClr val="888888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Q1</c:v>
                </c:pt>
                <c:pt idx="5">
                  <c:v>Q2</c:v>
                </c:pt>
                <c:pt idx="6">
                  <c:v>Q3</c:v>
                </c:pt>
                <c:pt idx="7">
                  <c:v>Q4</c:v>
                </c:pt>
                <c:pt idx="8">
                  <c:v>Q1</c:v>
                </c:pt>
                <c:pt idx="9">
                  <c:v>Q2</c:v>
                </c:pt>
                <c:pt idx="10">
                  <c:v>Q3</c:v>
                </c:pt>
                <c:pt idx="11">
                  <c:v>Q4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3.1</c:v>
                </c:pt>
                <c:pt idx="2">
                  <c:v>5.4</c:v>
                </c:pt>
                <c:pt idx="3">
                  <c:v>7.2</c:v>
                </c:pt>
                <c:pt idx="4">
                  <c:v>6.1</c:v>
                </c:pt>
                <c:pt idx="5">
                  <c:v>9.8000000000000007</c:v>
                </c:pt>
                <c:pt idx="6">
                  <c:v>10.9</c:v>
                </c:pt>
                <c:pt idx="7">
                  <c:v>13.2</c:v>
                </c:pt>
                <c:pt idx="8">
                  <c:v>15.8</c:v>
                </c:pt>
                <c:pt idx="9">
                  <c:v>17.2</c:v>
                </c:pt>
                <c:pt idx="10">
                  <c:v>19.399999999999999</c:v>
                </c:pt>
                <c:pt idx="11">
                  <c:v>21.1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E52-4943-A522-4FB1E701C5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C1C1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80808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BDBDBD"/>
              </a:solidFill>
              <a:latin typeface="IBM Plex Mono"/>
              <a:cs typeface="IBM Plex Mono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080808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[ SERIES ]</c:v>
                </c:pt>
              </c:strCache>
            </c:strRef>
          </c:tx>
          <c:spPr>
            <a:solidFill>
              <a:srgbClr val="42B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IBM Plex Mono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[ A ]</c:v>
                </c:pt>
                <c:pt idx="1">
                  <c:v>[ B ]</c:v>
                </c:pt>
                <c:pt idx="2">
                  <c:v>[ C ]</c:v>
                </c:pt>
                <c:pt idx="3">
                  <c:v>[ D ]</c:v>
                </c:pt>
                <c:pt idx="4">
                  <c:v>[ E ]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31</c:v>
                </c:pt>
                <c:pt idx="2">
                  <c:v>28</c:v>
                </c:pt>
                <c:pt idx="3">
                  <c:v>17</c:v>
                </c:pt>
                <c:pt idx="4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1CE-0946-ADA0-E5A1F600B2C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8888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C1C1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8888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80808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080808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ln w="38100" cap="flat">
              <a:solidFill>
                <a:srgbClr val="42B5E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2B5E8"/>
              </a:solidFill>
              <a:ln w="9525" cap="flat">
                <a:solidFill>
                  <a:srgbClr val="42B5E8"/>
                </a:solidFill>
                <a:prstDash val="solid"/>
                <a:round/>
              </a:ln>
              <a:effectLst/>
            </c:spPr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24</c:v>
                </c:pt>
                <c:pt idx="2">
                  <c:v>38</c:v>
                </c:pt>
                <c:pt idx="3">
                  <c:v>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275-FF49-8850-716881FAD5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C1C1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80808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080808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42B5E8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31</c:v>
                </c:pt>
                <c:pt idx="2">
                  <c:v>28</c:v>
                </c:pt>
                <c:pt idx="3">
                  <c:v>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06-6D4B-A0D4-5EEE32C643E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IBM Plex Mono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C1C1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88888"/>
                </a:solidFill>
                <a:latin typeface="IBM Plex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80808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080808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923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chart" Target="../charts/chart3.xml"/><Relationship Id="rId5" Type="http://schemas.openxmlformats.org/officeDocument/2006/relationships/chart" Target="../charts/char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01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 //  COVER — PRIMARY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853367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963095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24</a:t>
            </a:r>
            <a:endParaRPr lang="en-US" sz="800" dirty="0"/>
          </a:p>
        </p:txBody>
      </p:sp>
      <p:pic>
        <p:nvPicPr>
          <p:cNvPr id="17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0511" y="1600200"/>
            <a:ext cx="3986784" cy="365760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48640" y="18288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</a:t>
            </a:r>
            <a:endParaRPr lang="en-US" sz="7200" dirty="0"/>
          </a:p>
        </p:txBody>
      </p:sp>
      <p:sp>
        <p:nvSpPr>
          <p:cNvPr id="19" name="Text 16"/>
          <p:cNvSpPr/>
          <p:nvPr/>
        </p:nvSpPr>
        <p:spPr>
          <a:xfrm>
            <a:off x="548640" y="284587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QUANT</a:t>
            </a:r>
            <a:endParaRPr lang="en-US" sz="7200" dirty="0"/>
          </a:p>
        </p:txBody>
      </p:sp>
      <p:sp>
        <p:nvSpPr>
          <p:cNvPr id="20" name="Shape 17"/>
          <p:cNvSpPr/>
          <p:nvPr/>
        </p:nvSpPr>
        <p:spPr>
          <a:xfrm>
            <a:off x="548640" y="4101164"/>
            <a:ext cx="50292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48640" y="42062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NEW YORK UNIVERSITY  //  QUANT FINANCE DIVISION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48640" y="4937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DECK TITLE GOES HERE ]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5349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Subtitle — date, audience, version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02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 //  COVER — MINIMAL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853367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963095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24</a:t>
            </a:r>
            <a:endParaRPr lang="en-US" sz="800" dirty="0"/>
          </a:p>
        </p:txBody>
      </p:sp>
      <p:pic>
        <p:nvPicPr>
          <p:cNvPr id="17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822960"/>
            <a:ext cx="1594714" cy="146304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48640" y="28346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DECK TITLE ]</a:t>
            </a:r>
            <a:endParaRPr lang="en-US" sz="4800" dirty="0"/>
          </a:p>
        </p:txBody>
      </p:sp>
      <p:sp>
        <p:nvSpPr>
          <p:cNvPr id="19" name="Shape 16"/>
          <p:cNvSpPr/>
          <p:nvPr/>
        </p:nvSpPr>
        <p:spPr>
          <a:xfrm>
            <a:off x="548640" y="4206240"/>
            <a:ext cx="45720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Subtitle or one-line description ]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48640" y="5760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PRESENTED BY  //  [ NAME ]  //  [ DATE ]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03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 //  AGENDA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AGENDA</a:t>
            </a:r>
            <a:endParaRPr lang="en-US" sz="3600" dirty="0"/>
          </a:p>
        </p:txBody>
      </p:sp>
      <p:sp>
        <p:nvSpPr>
          <p:cNvPr id="17" name="Shape 14"/>
          <p:cNvSpPr/>
          <p:nvPr/>
        </p:nvSpPr>
        <p:spPr>
          <a:xfrm>
            <a:off x="365760" y="132588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4864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280160" y="23317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SECTION ONE ]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486400" y="23317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Brief description of what this section covers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2880360"/>
            <a:ext cx="11064240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4864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280160" y="29718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SECTION TWO ]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486400" y="297180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Brief description of what this section covers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48640" y="3520440"/>
            <a:ext cx="11064240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548640" y="36118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280160" y="3611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SECTION THREE ]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486400" y="361188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Brief description of what this section covers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48640" y="4160520"/>
            <a:ext cx="11064240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548640" y="42519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1280160" y="42519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SECTION FOUR ]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486400" y="42519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Brief description of what this section covers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48640" y="4800600"/>
            <a:ext cx="11064240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548640" y="4892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1280160" y="48920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SECTION FIVE ]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5486400" y="489204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Brief description of what this section covers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5440680"/>
            <a:ext cx="11064240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/>
          <p:nvPr/>
        </p:nvSpPr>
        <p:spPr>
          <a:xfrm>
            <a:off x="548640" y="5532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1280160" y="5532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SECTION SIX ]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5486400" y="553212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Brief description of what this section covers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548640" y="6080760"/>
            <a:ext cx="11064240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04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 //  SECTION OPENER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48640" y="118872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1E6F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8000" dirty="0"/>
          </a:p>
        </p:txBody>
      </p:sp>
      <p:sp>
        <p:nvSpPr>
          <p:cNvPr id="17" name="Text 14"/>
          <p:cNvSpPr/>
          <p:nvPr/>
        </p:nvSpPr>
        <p:spPr>
          <a:xfrm>
            <a:off x="548640" y="265176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SECTION TITLE ]</a:t>
            </a:r>
            <a:endParaRPr lang="en-US" sz="5600" dirty="0"/>
          </a:p>
        </p:txBody>
      </p:sp>
      <p:sp>
        <p:nvSpPr>
          <p:cNvPr id="18" name="Shape 15"/>
          <p:cNvSpPr/>
          <p:nvPr/>
        </p:nvSpPr>
        <p:spPr>
          <a:xfrm>
            <a:off x="548640" y="4023360"/>
            <a:ext cx="45720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One-sentence framing of the section. ]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48640" y="48463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Optional supporting context — why this matters, where it fits. ]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05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 //  STATEMENT / QUOTE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48640" y="12801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0" b="1" dirty="0">
                <a:solidFill>
                  <a:srgbClr val="1E6F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“</a:t>
            </a:r>
            <a:endParaRPr lang="en-US" sz="20000" dirty="0"/>
          </a:p>
        </p:txBody>
      </p:sp>
      <p:sp>
        <p:nvSpPr>
          <p:cNvPr id="17" name="Text 14"/>
          <p:cNvSpPr/>
          <p:nvPr/>
        </p:nvSpPr>
        <p:spPr>
          <a:xfrm>
            <a:off x="1645920" y="219456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A single bold statement, thesis, or quote. Keep it short — under 20 words. ]</a:t>
            </a:r>
            <a:endParaRPr lang="en-US" sz="2600" dirty="0"/>
          </a:p>
        </p:txBody>
      </p:sp>
      <p:sp>
        <p:nvSpPr>
          <p:cNvPr id="18" name="Shape 15"/>
          <p:cNvSpPr/>
          <p:nvPr/>
        </p:nvSpPr>
        <p:spPr>
          <a:xfrm>
            <a:off x="1645920" y="484632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645920" y="5029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— [ ATTRIBUTION OR SOURCE ]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06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 //  TWO COLUMN — TEXT + SIDEBAR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PAGE TITLE ]</a:t>
            </a:r>
            <a:endParaRPr lang="en-US" sz="3600" dirty="0"/>
          </a:p>
        </p:txBody>
      </p:sp>
      <p:sp>
        <p:nvSpPr>
          <p:cNvPr id="17" name="Shape 14"/>
          <p:cNvSpPr/>
          <p:nvPr/>
        </p:nvSpPr>
        <p:spPr>
          <a:xfrm>
            <a:off x="365760" y="132588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6576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Lead paragraph stating the setup ]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365760" y="2834640"/>
            <a:ext cx="7315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First supporting point. Keep it tight — one idea per paragraph, no padding. Numbers anchor every claim, not adjectives.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Second supporting point. Walk the reader through the dislocation, the data, and what makes the moment actionable.</a:t>
            </a:r>
            <a:endParaRPr lang="en-US" sz="1100" dirty="0"/>
          </a:p>
          <a:p>
            <a:pPr marL="0" indent="0">
              <a:buNone/>
            </a:pPr>
            <a:r>
              <a:rPr lang="en-US" sz="6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Third point if needed. Otherwise stop here. Density beats verbosity in research material.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955280" y="2377440"/>
            <a:ext cx="3840480" cy="3657600"/>
          </a:xfrm>
          <a:prstGeom prst="rect">
            <a:avLst/>
          </a:prstGeom>
          <a:solidFill>
            <a:srgbClr val="0F0F0F"/>
          </a:solidFill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8138160" y="2514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KEY METRICS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138160" y="2834640"/>
            <a:ext cx="3474720" cy="0"/>
          </a:xfrm>
          <a:prstGeom prst="line">
            <a:avLst/>
          </a:prstGeom>
          <a:noFill/>
          <a:ln w="6350">
            <a:solidFill>
              <a:srgbClr val="0D3D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8138160" y="3017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LABEL ]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784080" y="3017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VAL ]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138160" y="3429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LABEL ]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784080" y="3429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VAL ]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8138160" y="3840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LABEL ]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978408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VAL ]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8138160" y="4251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LABEL ]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784080" y="4251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VAL ]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138160" y="4663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LABEL ]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784080" y="4663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C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VAL 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138160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LABEL 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9784080" y="5074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VAL ]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07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 //  TWO COLUMN — 50/50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PAGE TITLE ]</a:t>
            </a:r>
            <a:endParaRPr lang="en-US" sz="3600" dirty="0"/>
          </a:p>
        </p:txBody>
      </p:sp>
      <p:sp>
        <p:nvSpPr>
          <p:cNvPr id="17" name="Shape 14"/>
          <p:cNvSpPr/>
          <p:nvPr/>
        </p:nvSpPr>
        <p:spPr>
          <a:xfrm>
            <a:off x="365760" y="132588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65760" y="23774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COLUMN ONE TITLE ]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65760" y="2788920"/>
            <a:ext cx="5577840" cy="0"/>
          </a:xfrm>
          <a:prstGeom prst="line">
            <a:avLst/>
          </a:prstGeom>
          <a:noFill/>
          <a:ln w="63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365760" y="2926080"/>
            <a:ext cx="5577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Body content for the left column. Use this layout for compare/contrast, before/after, or two parallel arguments. ]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263640" y="23774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COLUMN TWO TITLE ]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63640" y="2788920"/>
            <a:ext cx="5577840" cy="0"/>
          </a:xfrm>
          <a:prstGeom prst="line">
            <a:avLst/>
          </a:prstGeom>
          <a:noFill/>
          <a:ln w="63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263640" y="2926080"/>
            <a:ext cx="5577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Body content for the right column. ]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080760" y="2377440"/>
            <a:ext cx="0" cy="365760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08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 //  THREE COLUMN GRID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HEADLINE ]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365760" y="12984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SECOND LINE ]</a:t>
            </a:r>
            <a:endParaRPr lang="en-US" sz="3600" dirty="0"/>
          </a:p>
        </p:txBody>
      </p:sp>
      <p:sp>
        <p:nvSpPr>
          <p:cNvPr id="18" name="Shape 15"/>
          <p:cNvSpPr/>
          <p:nvPr/>
        </p:nvSpPr>
        <p:spPr>
          <a:xfrm>
            <a:off x="365760" y="1993392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Optional intro paragraph framing the three columns below. ]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65760" y="2926080"/>
            <a:ext cx="3703320" cy="2926080"/>
          </a:xfrm>
          <a:prstGeom prst="rect">
            <a:avLst/>
          </a:prstGeom>
          <a:solidFill>
            <a:srgbClr val="141414"/>
          </a:solidFill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40080" y="352044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ITEM ONE ]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640080" y="4251960"/>
            <a:ext cx="3154680" cy="0"/>
          </a:xfrm>
          <a:prstGeom prst="line">
            <a:avLst/>
          </a:prstGeom>
          <a:noFill/>
          <a:ln w="6350">
            <a:solidFill>
              <a:srgbClr val="0D3D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0080" y="438912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Description for the first item — what it is, why it matters, what to take away. ]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51960" y="2926080"/>
            <a:ext cx="3703320" cy="2926080"/>
          </a:xfrm>
          <a:prstGeom prst="rect">
            <a:avLst/>
          </a:prstGeom>
          <a:solidFill>
            <a:srgbClr val="141414"/>
          </a:solidFill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5262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26280" y="352044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ITEM TWO ]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4526280" y="4251960"/>
            <a:ext cx="3154680" cy="0"/>
          </a:xfrm>
          <a:prstGeom prst="line">
            <a:avLst/>
          </a:prstGeom>
          <a:noFill/>
          <a:ln w="6350">
            <a:solidFill>
              <a:srgbClr val="0D3D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4526280" y="438912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Description for the second item — what it is, why it matters, what to take away. ]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8138160" y="2926080"/>
            <a:ext cx="3703320" cy="2926080"/>
          </a:xfrm>
          <a:prstGeom prst="rect">
            <a:avLst/>
          </a:prstGeom>
          <a:solidFill>
            <a:srgbClr val="141414"/>
          </a:solidFill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84124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412480" y="352044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ITEM THREE ]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8412480" y="4251960"/>
            <a:ext cx="3154680" cy="0"/>
          </a:xfrm>
          <a:prstGeom prst="line">
            <a:avLst/>
          </a:prstGeom>
          <a:noFill/>
          <a:ln w="6350">
            <a:solidFill>
              <a:srgbClr val="0D3D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8412480" y="438912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Description for the third item — what it is, why it matters, what to take away. ]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09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 //  STAT CALLOUT — 4 KPIs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PAGE TITLE ]</a:t>
            </a:r>
            <a:endParaRPr lang="en-US" sz="3600" dirty="0"/>
          </a:p>
        </p:txBody>
      </p:sp>
      <p:sp>
        <p:nvSpPr>
          <p:cNvPr id="17" name="Shape 14"/>
          <p:cNvSpPr/>
          <p:nvPr/>
        </p:nvSpPr>
        <p:spPr>
          <a:xfrm>
            <a:off x="365760" y="132588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65760" y="233172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Optional intro line. ]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65760" y="2743200"/>
            <a:ext cx="2697480" cy="2286000"/>
          </a:xfrm>
          <a:prstGeom prst="rect">
            <a:avLst/>
          </a:prstGeom>
          <a:solidFill>
            <a:srgbClr val="141414"/>
          </a:solidFill>
          <a:ln w="6350">
            <a:solidFill>
              <a:srgbClr val="1A3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65760" y="2743200"/>
            <a:ext cx="45720" cy="2286000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94360" y="29718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LABEL ]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94360" y="33832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1.84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594360" y="45262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SUB ]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3200400" y="2743200"/>
            <a:ext cx="2697480" cy="2286000"/>
          </a:xfrm>
          <a:prstGeom prst="rect">
            <a:avLst/>
          </a:prstGeom>
          <a:solidFill>
            <a:srgbClr val="141414"/>
          </a:solidFill>
          <a:ln w="6350">
            <a:solidFill>
              <a:srgbClr val="1A3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3200400" y="2743200"/>
            <a:ext cx="45720" cy="2286000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3429000" y="29718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LABEL ]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429000" y="33832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74C3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-8.2%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3429000" y="45262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SUB ]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035040" y="2743200"/>
            <a:ext cx="2697480" cy="2286000"/>
          </a:xfrm>
          <a:prstGeom prst="rect">
            <a:avLst/>
          </a:prstGeom>
          <a:solidFill>
            <a:srgbClr val="141414"/>
          </a:solidFill>
          <a:ln w="6350">
            <a:solidFill>
              <a:srgbClr val="1A3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6035040" y="2743200"/>
            <a:ext cx="45720" cy="2286000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263640" y="29718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LABEL ]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6263640" y="33832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ECC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+24.6%</a:t>
            </a:r>
            <a:endParaRPr lang="en-US" sz="2800" dirty="0"/>
          </a:p>
        </p:txBody>
      </p:sp>
      <p:sp>
        <p:nvSpPr>
          <p:cNvPr id="33" name="Text 30"/>
          <p:cNvSpPr/>
          <p:nvPr/>
        </p:nvSpPr>
        <p:spPr>
          <a:xfrm>
            <a:off x="6263640" y="45262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SUB ]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869680" y="2743200"/>
            <a:ext cx="2697480" cy="2286000"/>
          </a:xfrm>
          <a:prstGeom prst="rect">
            <a:avLst/>
          </a:prstGeom>
          <a:solidFill>
            <a:srgbClr val="141414"/>
          </a:solidFill>
          <a:ln w="6350">
            <a:solidFill>
              <a:srgbClr val="1A3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8869680" y="2743200"/>
            <a:ext cx="45720" cy="2286000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9098280" y="29718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LABEL ]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9098280" y="33832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3.00</a:t>
            </a:r>
            <a:endParaRPr lang="en-US" sz="2800" dirty="0"/>
          </a:p>
        </p:txBody>
      </p:sp>
      <p:sp>
        <p:nvSpPr>
          <p:cNvPr id="38" name="Text 35"/>
          <p:cNvSpPr/>
          <p:nvPr/>
        </p:nvSpPr>
        <p:spPr>
          <a:xfrm>
            <a:off x="9098280" y="45262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SUB ]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365760" y="580644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[ source ]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 //  BIG STAT — HERO NUMBER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PAGE TITLE ]</a:t>
            </a:r>
            <a:endParaRPr lang="en-US" sz="3600" dirty="0"/>
          </a:p>
        </p:txBody>
      </p:sp>
      <p:sp>
        <p:nvSpPr>
          <p:cNvPr id="17" name="Shape 14"/>
          <p:cNvSpPr/>
          <p:nvPr/>
        </p:nvSpPr>
        <p:spPr>
          <a:xfrm>
            <a:off x="365760" y="132588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65760" y="237744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One sentence framing what this number represents. ]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65760" y="3200400"/>
            <a:ext cx="11430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+24.6%</a:t>
            </a:r>
            <a:endParaRPr lang="en-US" sz="14000" dirty="0"/>
          </a:p>
        </p:txBody>
      </p:sp>
      <p:sp>
        <p:nvSpPr>
          <p:cNvPr id="20" name="Shape 17"/>
          <p:cNvSpPr/>
          <p:nvPr/>
        </p:nvSpPr>
        <p:spPr>
          <a:xfrm>
            <a:off x="5029200" y="5349240"/>
            <a:ext cx="210312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65760" y="548640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Caption explaining the number — context, period, source. ]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65760" y="598932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[ data source, period ]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 //  BULLET LIST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PAGE TITLE ]</a:t>
            </a:r>
            <a:endParaRPr lang="en-US" sz="3600" dirty="0"/>
          </a:p>
        </p:txBody>
      </p:sp>
      <p:sp>
        <p:nvSpPr>
          <p:cNvPr id="17" name="Shape 14"/>
          <p:cNvSpPr/>
          <p:nvPr/>
        </p:nvSpPr>
        <p:spPr>
          <a:xfrm>
            <a:off x="365760" y="132588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65760" y="237744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Optional lead paragraph. ]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65760" y="3273552"/>
            <a:ext cx="146304" cy="146304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40080" y="3108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First key point — short, declarative, anchored. ]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65760" y="3822192"/>
            <a:ext cx="146304" cy="146304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Second key point — short, declarative, anchored. ]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" y="4370832"/>
            <a:ext cx="146304" cy="146304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0080" y="4206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Third key point — short, declarative, anchored. ]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65760" y="4919472"/>
            <a:ext cx="146304" cy="146304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0080" y="4754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Fourth key point — short, declarative, anchored. ]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65760" y="5468112"/>
            <a:ext cx="146304" cy="146304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40080" y="5303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Fifth key point — short, declarative, anchored. ]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 //  TIMELINE / PROCESS FLOW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PAGE TITLE ]</a:t>
            </a:r>
            <a:endParaRPr lang="en-US" sz="3600" dirty="0"/>
          </a:p>
        </p:txBody>
      </p:sp>
      <p:sp>
        <p:nvSpPr>
          <p:cNvPr id="17" name="Shape 14"/>
          <p:cNvSpPr/>
          <p:nvPr/>
        </p:nvSpPr>
        <p:spPr>
          <a:xfrm>
            <a:off x="365760" y="132588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65760" y="237744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Optional intro line describing the sequence. ]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31520" y="3657600"/>
            <a:ext cx="10728655" cy="0"/>
          </a:xfrm>
          <a:prstGeom prst="line">
            <a:avLst/>
          </a:prstGeom>
          <a:noFill/>
          <a:ln w="1270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1432522" y="3291840"/>
            <a:ext cx="731520" cy="731520"/>
          </a:xfrm>
          <a:prstGeom prst="ellipse">
            <a:avLst/>
          </a:prstGeom>
          <a:solidFill>
            <a:srgbClr val="080808"/>
          </a:solidFill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1432522" y="3291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48640" y="420624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STEP ONE ]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48640" y="4617720"/>
            <a:ext cx="24992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Brief description ]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297566" y="3291840"/>
            <a:ext cx="731520" cy="731520"/>
          </a:xfrm>
          <a:prstGeom prst="ellipse">
            <a:avLst/>
          </a:prstGeom>
          <a:solidFill>
            <a:srgbClr val="080808"/>
          </a:solidFill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297566" y="3291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413684" y="420624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STEP TWO ]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413684" y="4617720"/>
            <a:ext cx="24992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Brief description ]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162609" y="3291840"/>
            <a:ext cx="731520" cy="731520"/>
          </a:xfrm>
          <a:prstGeom prst="ellipse">
            <a:avLst/>
          </a:prstGeom>
          <a:solidFill>
            <a:srgbClr val="080808"/>
          </a:solidFill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7162609" y="3291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6278728" y="420624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STEP THREE ]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6278728" y="4617720"/>
            <a:ext cx="24992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Brief description ]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10027653" y="3291840"/>
            <a:ext cx="731520" cy="731520"/>
          </a:xfrm>
          <a:prstGeom prst="ellipse">
            <a:avLst/>
          </a:prstGeom>
          <a:solidFill>
            <a:srgbClr val="080808"/>
          </a:solidFill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10027653" y="3291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9143771" y="4206240"/>
            <a:ext cx="2499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STEP FOUR ]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9143771" y="4617720"/>
            <a:ext cx="24992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Brief description ]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 //  CHART — LINE / PERFORMANCE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CHART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365760" y="12984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TITLE ]</a:t>
            </a:r>
            <a:endParaRPr lang="en-US" sz="3600" dirty="0"/>
          </a:p>
        </p:txBody>
      </p:sp>
      <p:sp>
        <p:nvSpPr>
          <p:cNvPr id="18" name="Shape 15"/>
          <p:cNvSpPr/>
          <p:nvPr/>
        </p:nvSpPr>
        <p:spPr>
          <a:xfrm>
            <a:off x="365760" y="1993392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One-line description of what the chart shows. ]</a:t>
            </a:r>
            <a:endParaRPr lang="en-US" sz="1200" dirty="0"/>
          </a:p>
        </p:txBody>
      </p:sp>
      <p:graphicFrame>
        <p:nvGraphicFramePr>
          <p:cNvPr id="20" name="Chart 0"/>
          <p:cNvGraphicFramePr/>
          <p:nvPr/>
        </p:nvGraphicFramePr>
        <p:xfrm>
          <a:off x="365760" y="2743200"/>
          <a:ext cx="114300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Text 17"/>
          <p:cNvSpPr/>
          <p:nvPr/>
        </p:nvSpPr>
        <p:spPr>
          <a:xfrm>
            <a:off x="365760" y="598932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[ data source, period, methodology notes ]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 //  CHART — BAR / COMPARISON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CHART TITLE ]</a:t>
            </a:r>
            <a:endParaRPr lang="en-US" sz="3600" dirty="0"/>
          </a:p>
        </p:txBody>
      </p:sp>
      <p:sp>
        <p:nvSpPr>
          <p:cNvPr id="17" name="Shape 14"/>
          <p:cNvSpPr/>
          <p:nvPr/>
        </p:nvSpPr>
        <p:spPr>
          <a:xfrm>
            <a:off x="365760" y="132588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One-line description of what the chart shows. ]</a:t>
            </a:r>
            <a:endParaRPr lang="en-US" sz="1200" dirty="0"/>
          </a:p>
        </p:txBody>
      </p:sp>
      <p:graphicFrame>
        <p:nvGraphicFramePr>
          <p:cNvPr id="19" name="Chart 0"/>
          <p:cNvGraphicFramePr/>
          <p:nvPr/>
        </p:nvGraphicFramePr>
        <p:xfrm>
          <a:off x="365760" y="2743200"/>
          <a:ext cx="114300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0" name="Text 16"/>
          <p:cNvSpPr/>
          <p:nvPr/>
        </p:nvSpPr>
        <p:spPr>
          <a:xfrm>
            <a:off x="365760" y="598932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[ data source ]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 //  DATA TABLE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TABLE TITLE ]</a:t>
            </a:r>
            <a:endParaRPr lang="en-US" sz="3600" dirty="0"/>
          </a:p>
        </p:txBody>
      </p:sp>
      <p:sp>
        <p:nvSpPr>
          <p:cNvPr id="17" name="Shape 14"/>
          <p:cNvSpPr/>
          <p:nvPr/>
        </p:nvSpPr>
        <p:spPr>
          <a:xfrm>
            <a:off x="365760" y="132588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Optional caption. ]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743200"/>
          <a:ext cx="11430000" cy="914400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42B5E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COL 1 ]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E6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42B5E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COL 2 ]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E6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42B5E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COL 3 ]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E6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42B5E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COL 4 ]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E6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42B5E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COL 5 ]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E6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b="1" dirty="0">
                          <a:solidFill>
                            <a:srgbClr val="42B5E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COL 6 ]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1E6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ROW 1 ]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E6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ITEM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E6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#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E6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#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E6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ECC7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+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E6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ECC7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+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1E6F9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ROW 2 ]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ITEM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#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#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ECC7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+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-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ROW 3 ]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ITEM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#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#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ECC7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+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-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ROW 4 ]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ITEM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#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#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-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2ECC71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+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ROW 5 ]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ITEM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#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#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-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E74C3C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-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TOTAL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[ # ]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en-US" sz="100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76200" marR="76200" marT="76200" marB="76200" anchor="ctr">
                    <a:lnL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C1C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0" name="Text 16"/>
          <p:cNvSpPr/>
          <p:nvPr/>
        </p:nvSpPr>
        <p:spPr>
          <a:xfrm>
            <a:off x="365760" y="594360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[ source ]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16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 //  CHART — DUAL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CHART TITLE ]</a:t>
            </a:r>
            <a:endParaRPr lang="en-US" sz="3600" dirty="0"/>
          </a:p>
        </p:txBody>
      </p:sp>
      <p:sp>
        <p:nvSpPr>
          <p:cNvPr id="17" name="Shape 14"/>
          <p:cNvSpPr/>
          <p:nvPr/>
        </p:nvSpPr>
        <p:spPr>
          <a:xfrm>
            <a:off x="365760" y="132588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Optional caption. ]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65760" y="27432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CHART ONE LABEL ]</a:t>
            </a:r>
            <a:endParaRPr lang="en-US" sz="1000" dirty="0"/>
          </a:p>
        </p:txBody>
      </p:sp>
      <p:graphicFrame>
        <p:nvGraphicFramePr>
          <p:cNvPr id="20" name="Chart 0"/>
          <p:cNvGraphicFramePr/>
          <p:nvPr/>
        </p:nvGraphicFramePr>
        <p:xfrm>
          <a:off x="365760" y="3017520"/>
          <a:ext cx="55778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Text 17"/>
          <p:cNvSpPr/>
          <p:nvPr/>
        </p:nvSpPr>
        <p:spPr>
          <a:xfrm>
            <a:off x="6263640" y="27432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CHART TWO LABEL ]</a:t>
            </a:r>
            <a:endParaRPr lang="en-US" sz="1000" dirty="0"/>
          </a:p>
        </p:txBody>
      </p:sp>
      <p:graphicFrame>
        <p:nvGraphicFramePr>
          <p:cNvPr id="22" name="Chart 1"/>
          <p:cNvGraphicFramePr/>
          <p:nvPr/>
        </p:nvGraphicFramePr>
        <p:xfrm>
          <a:off x="6263640" y="3017520"/>
          <a:ext cx="55778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3" name="Text 18"/>
          <p:cNvSpPr/>
          <p:nvPr/>
        </p:nvSpPr>
        <p:spPr>
          <a:xfrm>
            <a:off x="365760" y="5943600"/>
            <a:ext cx="1143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[ source ]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17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  //  RESEARCH MEMO HEADER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MEMO SUBJECT ]</a:t>
            </a:r>
            <a:endParaRPr lang="en-US" sz="3600" dirty="0"/>
          </a:p>
        </p:txBody>
      </p:sp>
      <p:sp>
        <p:nvSpPr>
          <p:cNvPr id="17" name="Shape 14"/>
          <p:cNvSpPr/>
          <p:nvPr/>
        </p:nvSpPr>
        <p:spPr>
          <a:xfrm>
            <a:off x="365760" y="132588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365760" y="2377440"/>
            <a:ext cx="11430000" cy="1463040"/>
          </a:xfrm>
          <a:prstGeom prst="rect">
            <a:avLst/>
          </a:prstGeom>
          <a:solidFill>
            <a:srgbClr val="0F0F0F"/>
          </a:solidFill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1554480" y="2468880"/>
            <a:ext cx="0" cy="1280160"/>
          </a:xfrm>
          <a:prstGeom prst="line">
            <a:avLst/>
          </a:prstGeom>
          <a:noFill/>
          <a:ln w="6350">
            <a:solidFill>
              <a:srgbClr val="1A3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02920" y="2542032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DATE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691640" y="2542032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YYYY-MM-DD ]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02920" y="27889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TICKER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691640" y="2788920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XXXX US EQUITY ]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02920" y="30358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ANALYST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691640" y="3035808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NAME // TRACK ]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502920" y="3282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SUBJECT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691640" y="3282696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MEMO SUBJECT IN ALL CAPS ]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02920" y="352958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CONFIDENCE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691640" y="3529584"/>
            <a:ext cx="10058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HIGH/MEDIUM/LOW // BASIS ]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365760" y="411480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THESIS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365760" y="4480560"/>
            <a:ext cx="11430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One-paragraph thesis. State the call, the conviction, the time horizon. No setup, no hedging. ]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  //  DO / DON'T COMPARISON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PAGE TITLE ]</a:t>
            </a:r>
            <a:endParaRPr lang="en-US" sz="3600" dirty="0"/>
          </a:p>
        </p:txBody>
      </p:sp>
      <p:sp>
        <p:nvSpPr>
          <p:cNvPr id="17" name="Shape 14"/>
          <p:cNvSpPr/>
          <p:nvPr/>
        </p:nvSpPr>
        <p:spPr>
          <a:xfrm>
            <a:off x="365760" y="132588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Framing line for the comparison. ]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65760" y="2788920"/>
            <a:ext cx="5532120" cy="3383280"/>
          </a:xfrm>
          <a:prstGeom prst="rect">
            <a:avLst/>
          </a:prstGeom>
          <a:solidFill>
            <a:srgbClr val="1A0000"/>
          </a:solidFill>
          <a:ln w="6350">
            <a:solidFill>
              <a:srgbClr val="44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48640" y="2971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DON'T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3291840"/>
            <a:ext cx="5166360" cy="0"/>
          </a:xfrm>
          <a:prstGeom prst="line">
            <a:avLst/>
          </a:prstGeom>
          <a:noFill/>
          <a:ln w="6350">
            <a:solidFill>
              <a:srgbClr val="44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548640" y="3520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" y="35204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Anti-pattern one ]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48640" y="4023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—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68680" y="40233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Anti-pattern two ]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48640" y="45262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—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68680" y="45262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Anti-pattern three ]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48640" y="50292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" y="50292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Anti-pattern four ]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263640" y="2788920"/>
            <a:ext cx="5532120" cy="3383280"/>
          </a:xfrm>
          <a:prstGeom prst="rect">
            <a:avLst/>
          </a:prstGeom>
          <a:solidFill>
            <a:srgbClr val="001A00"/>
          </a:solidFill>
          <a:ln w="6350">
            <a:solidFill>
              <a:srgbClr val="1144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446520" y="2971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C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DO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446520" y="3291840"/>
            <a:ext cx="5166360" cy="0"/>
          </a:xfrm>
          <a:prstGeom prst="line">
            <a:avLst/>
          </a:prstGeom>
          <a:noFill/>
          <a:ln w="6350">
            <a:solidFill>
              <a:srgbClr val="1144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6446520" y="3520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C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6766560" y="35204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CC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Better pattern one ]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446520" y="4023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C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766560" y="402336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CC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Better pattern two ]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446520" y="45262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C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6766560" y="452628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CC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Better pattern three 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46520" y="50292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C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6766560" y="50292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CC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Better pattern four ]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19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  //  RECOMMENDATION / DECISION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48640" y="11887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1E6F9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##</a:t>
            </a:r>
            <a:endParaRPr lang="en-US" sz="8000" dirty="0"/>
          </a:p>
        </p:txBody>
      </p:sp>
      <p:sp>
        <p:nvSpPr>
          <p:cNvPr id="17" name="Text 14"/>
          <p:cNvSpPr/>
          <p:nvPr/>
        </p:nvSpPr>
        <p:spPr>
          <a:xfrm>
            <a:off x="548640" y="26517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RECOMMENDATION</a:t>
            </a:r>
            <a:endParaRPr lang="en-US" sz="4800" dirty="0"/>
          </a:p>
        </p:txBody>
      </p:sp>
      <p:sp>
        <p:nvSpPr>
          <p:cNvPr id="18" name="Shape 15"/>
          <p:cNvSpPr/>
          <p:nvPr/>
        </p:nvSpPr>
        <p:spPr>
          <a:xfrm>
            <a:off x="548640" y="3886200"/>
            <a:ext cx="45720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solidFill>
            <a:srgbClr val="141414"/>
          </a:solidFill>
          <a:ln w="63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914400" y="44348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CC7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ACTION ] </a:t>
            </a:r>
            <a:r>
              <a:rPr lang="en-US" sz="22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TARGET ]</a:t>
            </a:r>
            <a:r>
              <a:rPr lang="en-US" sz="22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//  </a:t>
            </a:r>
            <a:r>
              <a:rPr lang="en-US" sz="22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SIZE ]</a:t>
            </a:r>
            <a:r>
              <a:rPr lang="en-US" sz="22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//  </a:t>
            </a:r>
            <a:r>
              <a:rPr lang="en-US" sz="2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HORIZON ]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548640" y="5852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Confidence: [ HIGH/MED/LOW ]  //  Driver: [ thesis ]  //  Stop: [ exit condition ]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  //  RISK MATRIX / 2x2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MATRIX TITLE ]</a:t>
            </a:r>
            <a:endParaRPr lang="en-US" sz="3600" dirty="0"/>
          </a:p>
        </p:txBody>
      </p:sp>
      <p:sp>
        <p:nvSpPr>
          <p:cNvPr id="17" name="Shape 14"/>
          <p:cNvSpPr/>
          <p:nvPr/>
        </p:nvSpPr>
        <p:spPr>
          <a:xfrm>
            <a:off x="365760" y="132588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65760" y="233172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Optional intro line. ]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280160" y="2834640"/>
            <a:ext cx="5120640" cy="1554480"/>
          </a:xfrm>
          <a:prstGeom prst="rect">
            <a:avLst/>
          </a:prstGeom>
          <a:solidFill>
            <a:srgbClr val="141414"/>
          </a:solidFill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1280160" y="2834640"/>
            <a:ext cx="45720" cy="1554480"/>
          </a:xfrm>
          <a:prstGeom prst="rect">
            <a:avLst/>
          </a:prstGeom>
          <a:solidFill>
            <a:srgbClr val="1E6F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1508760" y="3017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TOP LEFT ]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508760" y="34747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Description ]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583680" y="2834640"/>
            <a:ext cx="5120640" cy="1554480"/>
          </a:xfrm>
          <a:prstGeom prst="rect">
            <a:avLst/>
          </a:prstGeom>
          <a:solidFill>
            <a:srgbClr val="141414"/>
          </a:solidFill>
          <a:ln w="6350">
            <a:solidFill>
              <a:srgbClr val="1A6B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583680" y="2834640"/>
            <a:ext cx="45720" cy="1554480"/>
          </a:xfrm>
          <a:prstGeom prst="rect">
            <a:avLst/>
          </a:prstGeom>
          <a:solidFill>
            <a:srgbClr val="1A6B3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812280" y="3017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TOP RIGHT ]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6812280" y="34747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Description ]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1280160" y="4572000"/>
            <a:ext cx="5120640" cy="1554480"/>
          </a:xfrm>
          <a:prstGeom prst="rect">
            <a:avLst/>
          </a:prstGeom>
          <a:solidFill>
            <a:srgbClr val="141414"/>
          </a:solidFill>
          <a:ln w="6350">
            <a:solidFill>
              <a:srgbClr val="6B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1280160" y="4572000"/>
            <a:ext cx="45720" cy="1554480"/>
          </a:xfrm>
          <a:prstGeom prst="rect">
            <a:avLst/>
          </a:prstGeom>
          <a:solidFill>
            <a:srgbClr val="6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1508760" y="4754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BOTTOM LEFT ]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1508760" y="5212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Description ]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583680" y="4572000"/>
            <a:ext cx="5120640" cy="1554480"/>
          </a:xfrm>
          <a:prstGeom prst="rect">
            <a:avLst/>
          </a:prstGeom>
          <a:solidFill>
            <a:srgbClr val="141414"/>
          </a:solidFill>
          <a:ln w="6350">
            <a:solidFill>
              <a:srgbClr val="6644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6583680" y="4572000"/>
            <a:ext cx="45720" cy="1554480"/>
          </a:xfrm>
          <a:prstGeom prst="rect">
            <a:avLst/>
          </a:prstGeom>
          <a:solidFill>
            <a:srgbClr val="6644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6812280" y="4754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BOTTOM RIGHT ]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812280" y="5212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Description ]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365760" y="4114800"/>
            <a:ext cx="82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Y-AXIS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LABEL ]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280160" y="62179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X-AXIS LABEL ]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21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  //  TEAM — 3x2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6400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TEAM</a:t>
            </a:r>
            <a:endParaRPr lang="en-US" sz="3600" dirty="0"/>
          </a:p>
        </p:txBody>
      </p:sp>
      <p:sp>
        <p:nvSpPr>
          <p:cNvPr id="17" name="Shape 14"/>
          <p:cNvSpPr/>
          <p:nvPr/>
        </p:nvSpPr>
        <p:spPr>
          <a:xfrm>
            <a:off x="365760" y="132588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65760" y="233172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Operator profiles. Replace with actual members.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65760" y="2834640"/>
            <a:ext cx="3703320" cy="1417320"/>
          </a:xfrm>
          <a:prstGeom prst="rect">
            <a:avLst/>
          </a:prstGeom>
          <a:solidFill>
            <a:srgbClr val="141414"/>
          </a:solidFill>
          <a:ln w="6350">
            <a:solidFill>
              <a:srgbClr val="1A3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65760" y="2834640"/>
            <a:ext cx="45720" cy="1417320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594360" y="299923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NAME ]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94360" y="333756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ROLE  //  TRACK ]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94360" y="36118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Concentration ]. [ School '##  ]. Prior: [ Experience ].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251960" y="2834640"/>
            <a:ext cx="3703320" cy="1417320"/>
          </a:xfrm>
          <a:prstGeom prst="rect">
            <a:avLst/>
          </a:prstGeom>
          <a:solidFill>
            <a:srgbClr val="141414"/>
          </a:solidFill>
          <a:ln w="6350">
            <a:solidFill>
              <a:srgbClr val="1A3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4251960" y="2834640"/>
            <a:ext cx="45720" cy="1417320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480560" y="299923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NAME ]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80560" y="333756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ROLE  //  TRACK ]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4480560" y="36118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Concentration ]. [ School '##  ]. Prior: [ Experience ].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138160" y="2834640"/>
            <a:ext cx="3703320" cy="1417320"/>
          </a:xfrm>
          <a:prstGeom prst="rect">
            <a:avLst/>
          </a:prstGeom>
          <a:solidFill>
            <a:srgbClr val="141414"/>
          </a:solidFill>
          <a:ln w="6350">
            <a:solidFill>
              <a:srgbClr val="1A3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8138160" y="2834640"/>
            <a:ext cx="45720" cy="1417320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8366760" y="299923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NAME ]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8366760" y="333756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ROLE  //  TRACK ]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8366760" y="36118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Concentration ]. [ School '##  ]. Prior: [ Experience ].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365760" y="4480560"/>
            <a:ext cx="3703320" cy="1417320"/>
          </a:xfrm>
          <a:prstGeom prst="rect">
            <a:avLst/>
          </a:prstGeom>
          <a:solidFill>
            <a:srgbClr val="141414"/>
          </a:solidFill>
          <a:ln w="6350">
            <a:solidFill>
              <a:srgbClr val="1A3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365760" y="4480560"/>
            <a:ext cx="45720" cy="1417320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594360" y="46451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NAME ]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594360" y="49834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ROLE  //  TRACK ]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594360" y="52578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Concentration ]. [ School '##  ]. Prior: [ Experience ].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251960" y="4480560"/>
            <a:ext cx="3703320" cy="1417320"/>
          </a:xfrm>
          <a:prstGeom prst="rect">
            <a:avLst/>
          </a:prstGeom>
          <a:solidFill>
            <a:srgbClr val="141414"/>
          </a:solidFill>
          <a:ln w="6350">
            <a:solidFill>
              <a:srgbClr val="1A3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7"/>
          <p:cNvSpPr/>
          <p:nvPr/>
        </p:nvSpPr>
        <p:spPr>
          <a:xfrm>
            <a:off x="4251960" y="4480560"/>
            <a:ext cx="45720" cy="1417320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8"/>
          <p:cNvSpPr/>
          <p:nvPr/>
        </p:nvSpPr>
        <p:spPr>
          <a:xfrm>
            <a:off x="4480560" y="46451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NAME ]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4480560" y="49834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ROLE  //  TRACK ]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4480560" y="52578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Concentration ]. [ School '##  ]. Prior: [ Experience ].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8138160" y="4480560"/>
            <a:ext cx="3703320" cy="1417320"/>
          </a:xfrm>
          <a:prstGeom prst="rect">
            <a:avLst/>
          </a:prstGeom>
          <a:solidFill>
            <a:srgbClr val="141414"/>
          </a:solidFill>
          <a:ln w="6350">
            <a:solidFill>
              <a:srgbClr val="1A3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8138160" y="4480560"/>
            <a:ext cx="45720" cy="1417320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8366760" y="464515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NAME ]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8366760" y="49834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ROLE  //  TRACK ]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366760" y="52578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Concentration ]. [ School '##  ]. Prior: [ Experience ].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22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  //  INDIVIDUAL PROFILE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8229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NAME ]</a:t>
            </a:r>
            <a:endParaRPr lang="en-US" sz="4400" dirty="0"/>
          </a:p>
        </p:txBody>
      </p:sp>
      <p:sp>
        <p:nvSpPr>
          <p:cNvPr id="17" name="Shape 14"/>
          <p:cNvSpPr/>
          <p:nvPr/>
        </p:nvSpPr>
        <p:spPr>
          <a:xfrm>
            <a:off x="365760" y="1874520"/>
            <a:ext cx="36576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6576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ROLE  //  TRACK ]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36576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BIO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65760" y="3017520"/>
            <a:ext cx="5486400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65760" y="320040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Two-to-three sentence bio. What they study, what they've worked on, why they're here. State accomplishments without ornament. ]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SPECS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6400800" y="3017520"/>
            <a:ext cx="5394960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0080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EDUCATION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7863840" y="32004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School, '##, Concentration ]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PRIOR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7863840" y="3611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Internships or relevant work ]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400800" y="4023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FOCUS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7863840" y="4023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Research areas, asset class ]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400800" y="4434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LANGUAGES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863840" y="4434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Programming, spoken ]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400800" y="48463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CONTACT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863840" y="4846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email or LinkedIn handle ]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23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  //  Q&amp;A / DIVIDER</a:t>
            </a:r>
            <a:endParaRPr lang="en-US" sz="900" dirty="0"/>
          </a:p>
        </p:txBody>
      </p:sp>
      <p:pic>
        <p:nvPicPr>
          <p:cNvPr id="5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04285" y="164592"/>
            <a:ext cx="358811" cy="329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23 / 24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65760" y="2468880"/>
            <a:ext cx="11430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6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 &amp; A</a:t>
            </a:r>
            <a:endParaRPr lang="en-US" sz="9600" dirty="0"/>
          </a:p>
        </p:txBody>
      </p:sp>
      <p:sp>
        <p:nvSpPr>
          <p:cNvPr id="17" name="Shape 14"/>
          <p:cNvSpPr/>
          <p:nvPr/>
        </p:nvSpPr>
        <p:spPr>
          <a:xfrm>
            <a:off x="4724248" y="4114800"/>
            <a:ext cx="27432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65760" y="4389120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 Optional prompt or framing. ]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42B5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// 24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68680" y="1371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  //  THANK YOU / CONTACT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41148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28600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853367" y="2286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963095" y="228600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28600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28600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1853367" y="6629400"/>
            <a:ext cx="109728" cy="0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1963095" y="6519672"/>
            <a:ext cx="0" cy="109728"/>
          </a:xfrm>
          <a:prstGeom prst="line">
            <a:avLst/>
          </a:prstGeom>
          <a:noFill/>
          <a:ln w="6350">
            <a:solidFill>
              <a:srgbClr val="1E6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6446520"/>
            <a:ext cx="11460175" cy="0"/>
          </a:xfrm>
          <a:prstGeom prst="line">
            <a:avLst/>
          </a:prstGeom>
          <a:noFill/>
          <a:ln w="6350">
            <a:solidFill>
              <a:srgbClr val="1C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65379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 //  TEMPLATE LIBRARY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094415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24 / 24</a:t>
            </a:r>
            <a:endParaRPr lang="en-US" sz="800" dirty="0"/>
          </a:p>
        </p:txBody>
      </p:sp>
      <p:pic>
        <p:nvPicPr>
          <p:cNvPr id="17" name="Image 0" descr="/home/claude/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8105" y="3840480"/>
            <a:ext cx="2392070" cy="219456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48640" y="1828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THANK YOU.</a:t>
            </a:r>
            <a:endParaRPr lang="en-US" sz="6000" dirty="0"/>
          </a:p>
        </p:txBody>
      </p:sp>
      <p:sp>
        <p:nvSpPr>
          <p:cNvPr id="19" name="Shape 16"/>
          <p:cNvSpPr/>
          <p:nvPr/>
        </p:nvSpPr>
        <p:spPr>
          <a:xfrm>
            <a:off x="548640" y="3108960"/>
            <a:ext cx="4572000" cy="0"/>
          </a:xfrm>
          <a:prstGeom prst="line">
            <a:avLst/>
          </a:prstGeom>
          <a:noFill/>
          <a:ln w="19050">
            <a:solidFill>
              <a:srgbClr val="42B5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4864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DBDB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Questions, feedback, or follow-up: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48640" y="40233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EMAIL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011680" y="4023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taquant@nyu.edu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48640" y="4389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WEBSITE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01168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taquant.nyu.edu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48640" y="4754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LINKEDIN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201168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@tamidquantnyu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48640" y="51206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INSTAGRAM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011680" y="5120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2B5E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@tamidquant.nyu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4864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8595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TAMID QUANT  //  NYU STERN / CAS  //  TAMID GROUP CHAPTER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1744</Words>
  <Application>Microsoft Macintosh PowerPoint</Application>
  <PresentationFormat>Widescreen</PresentationFormat>
  <Paragraphs>387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IBM Plex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TAMID Quant — Master Slide Template</dc:title>
  <dc:subject>PptxGenJS Presentation</dc:subject>
  <dc:creator>TAMID Quant</dc:creator>
  <cp:lastModifiedBy>Aaron Blatnoy</cp:lastModifiedBy>
  <cp:revision>2</cp:revision>
  <dcterms:created xsi:type="dcterms:W3CDTF">2026-04-26T19:07:48Z</dcterms:created>
  <dcterms:modified xsi:type="dcterms:W3CDTF">2026-04-26T19:33:01Z</dcterms:modified>
</cp:coreProperties>
</file>