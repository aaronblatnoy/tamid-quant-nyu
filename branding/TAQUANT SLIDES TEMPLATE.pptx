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216" y="10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[ SERIES A ]</c:v>
                </c:pt>
              </c:strCache>
            </c:strRef>
          </c:tx>
          <c:spPr>
            <a:ln w="38100" cap="flat">
              <a:solidFill>
                <a:srgbClr val="42B5E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42B5E8"/>
              </a:solidFill>
              <a:ln w="9525" cap="flat">
                <a:solidFill>
                  <a:srgbClr val="42B5E8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Q1</c:v>
                </c:pt>
                <c:pt idx="5">
                  <c:v>Q2</c:v>
                </c:pt>
                <c:pt idx="6">
                  <c:v>Q3</c:v>
                </c:pt>
                <c:pt idx="7">
                  <c:v>Q4</c:v>
                </c:pt>
                <c:pt idx="8">
                  <c:v>Q1</c:v>
                </c:pt>
                <c:pt idx="9">
                  <c:v>Q2</c:v>
                </c:pt>
                <c:pt idx="10">
                  <c:v>Q3</c:v>
                </c:pt>
                <c:pt idx="11">
                  <c:v>Q4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4.2</c:v>
                </c:pt>
                <c:pt idx="2">
                  <c:v>8.1</c:v>
                </c:pt>
                <c:pt idx="3">
                  <c:v>11.3</c:v>
                </c:pt>
                <c:pt idx="4">
                  <c:v>9.8000000000000007</c:v>
                </c:pt>
                <c:pt idx="5">
                  <c:v>14.5</c:v>
                </c:pt>
                <c:pt idx="6">
                  <c:v>18.2</c:v>
                </c:pt>
                <c:pt idx="7">
                  <c:v>21.4</c:v>
                </c:pt>
                <c:pt idx="8">
                  <c:v>25.8</c:v>
                </c:pt>
                <c:pt idx="9">
                  <c:v>29.3</c:v>
                </c:pt>
                <c:pt idx="10">
                  <c:v>32.1</c:v>
                </c:pt>
                <c:pt idx="11">
                  <c:v>36.4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E52-4943-A522-4FB1E701C5F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[ SERIES B ]</c:v>
                </c:pt>
              </c:strCache>
            </c:strRef>
          </c:tx>
          <c:spPr>
            <a:ln w="38100" cap="flat">
              <a:solidFill>
                <a:srgbClr val="88888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888888"/>
              </a:solidFill>
              <a:ln w="9525" cap="flat">
                <a:solidFill>
                  <a:srgbClr val="888888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Q1</c:v>
                </c:pt>
                <c:pt idx="5">
                  <c:v>Q2</c:v>
                </c:pt>
                <c:pt idx="6">
                  <c:v>Q3</c:v>
                </c:pt>
                <c:pt idx="7">
                  <c:v>Q4</c:v>
                </c:pt>
                <c:pt idx="8">
                  <c:v>Q1</c:v>
                </c:pt>
                <c:pt idx="9">
                  <c:v>Q2</c:v>
                </c:pt>
                <c:pt idx="10">
                  <c:v>Q3</c:v>
                </c:pt>
                <c:pt idx="11">
                  <c:v>Q4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</c:v>
                </c:pt>
                <c:pt idx="1">
                  <c:v>3.1</c:v>
                </c:pt>
                <c:pt idx="2">
                  <c:v>5.4</c:v>
                </c:pt>
                <c:pt idx="3">
                  <c:v>7.2</c:v>
                </c:pt>
                <c:pt idx="4">
                  <c:v>6.1</c:v>
                </c:pt>
                <c:pt idx="5">
                  <c:v>9.8000000000000007</c:v>
                </c:pt>
                <c:pt idx="6">
                  <c:v>10.9</c:v>
                </c:pt>
                <c:pt idx="7">
                  <c:v>13.2</c:v>
                </c:pt>
                <c:pt idx="8">
                  <c:v>15.8</c:v>
                </c:pt>
                <c:pt idx="9">
                  <c:v>17.2</c:v>
                </c:pt>
                <c:pt idx="10">
                  <c:v>19.399999999999999</c:v>
                </c:pt>
                <c:pt idx="11">
                  <c:v>21.1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E52-4943-A522-4FB1E701C5F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88888"/>
                </a:solidFill>
                <a:latin typeface="IBM Plex Mono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C1C1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88888"/>
                </a:solidFill>
                <a:latin typeface="IBM Plex Mon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80808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BDBDBD"/>
              </a:solidFill>
              <a:latin typeface="IBM Plex Mono"/>
              <a:cs typeface="IBM Plex Mon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80808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[ SERIES ]</c:v>
                </c:pt>
              </c:strCache>
            </c:strRef>
          </c:tx>
          <c:spPr>
            <a:solidFill>
              <a:srgbClr val="42B5E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IBM Plex Mono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[ A ]</c:v>
                </c:pt>
                <c:pt idx="1">
                  <c:v>[ B ]</c:v>
                </c:pt>
                <c:pt idx="2">
                  <c:v>[ C ]</c:v>
                </c:pt>
                <c:pt idx="3">
                  <c:v>[ D ]</c:v>
                </c:pt>
                <c:pt idx="4">
                  <c:v>[ E ]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42</c:v>
                </c:pt>
                <c:pt idx="1">
                  <c:v>31</c:v>
                </c:pt>
                <c:pt idx="2">
                  <c:v>28</c:v>
                </c:pt>
                <c:pt idx="3">
                  <c:v>17</c:v>
                </c:pt>
                <c:pt idx="4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1CE-0946-ADA0-E5A1F600B2C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88888"/>
                </a:solidFill>
                <a:latin typeface="IBM Plex Mono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C1C1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88888"/>
                </a:solidFill>
                <a:latin typeface="IBM Plex Mon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80808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080808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</c:v>
                </c:pt>
              </c:strCache>
            </c:strRef>
          </c:tx>
          <c:spPr>
            <a:ln w="38100" cap="flat">
              <a:solidFill>
                <a:srgbClr val="42B5E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42B5E8"/>
              </a:solidFill>
              <a:ln w="9525" cap="flat">
                <a:solidFill>
                  <a:srgbClr val="42B5E8"/>
                </a:solidFill>
                <a:prstDash val="solid"/>
                <a:round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</c:v>
                </c:pt>
                <c:pt idx="1">
                  <c:v>24</c:v>
                </c:pt>
                <c:pt idx="2">
                  <c:v>38</c:v>
                </c:pt>
                <c:pt idx="3">
                  <c:v>52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275-FF49-8850-716881FAD5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88888"/>
                </a:solidFill>
                <a:latin typeface="IBM Plex Mono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C1C1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88888"/>
                </a:solidFill>
                <a:latin typeface="IBM Plex Mon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80808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080808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</c:v>
                </c:pt>
              </c:strCache>
            </c:strRef>
          </c:tx>
          <c:spPr>
            <a:solidFill>
              <a:srgbClr val="42B5E8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</c:v>
                </c:pt>
                <c:pt idx="1">
                  <c:v>31</c:v>
                </c:pt>
                <c:pt idx="2">
                  <c:v>28</c:v>
                </c:pt>
                <c:pt idx="3">
                  <c:v>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906-6D4B-A0D4-5EEE32C643E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88888"/>
                </a:solidFill>
                <a:latin typeface="IBM Plex Mono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C1C1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88888"/>
                </a:solidFill>
                <a:latin typeface="IBM Plex Mon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80808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080808"/>
    </a:solidFill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29230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chart" Target="../charts/char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chart" Target="../charts/char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chart" Target="../charts/chart3.xml"/><Relationship Id="rId5" Type="http://schemas.openxmlformats.org/officeDocument/2006/relationships/chart" Target="../charts/chart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466576" cy="36576"/>
          </a:xfrm>
          <a:prstGeom prst="rect">
            <a:avLst/>
          </a:prstGeom>
          <a:solidFill>
            <a:srgbClr val="42B5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2B5E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01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68680" y="1371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  //  COVER — PRIMARY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411480"/>
            <a:ext cx="10881360" cy="0"/>
          </a:xfrm>
          <a:prstGeom prst="line">
            <a:avLst/>
          </a:prstGeom>
          <a:noFill/>
          <a:ln w="6350">
            <a:solidFill>
              <a:srgbClr val="1C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28600" y="228600"/>
            <a:ext cx="109728" cy="0"/>
          </a:xfrm>
          <a:prstGeom prst="line">
            <a:avLst/>
          </a:prstGeom>
          <a:noFill/>
          <a:ln w="6350">
            <a:solidFill>
              <a:srgbClr val="1E6F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28600" y="228600"/>
            <a:ext cx="0" cy="109728"/>
          </a:xfrm>
          <a:prstGeom prst="line">
            <a:avLst/>
          </a:prstGeom>
          <a:noFill/>
          <a:ln w="6350">
            <a:solidFill>
              <a:srgbClr val="1E6F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28600" y="6629400"/>
            <a:ext cx="109728" cy="0"/>
          </a:xfrm>
          <a:prstGeom prst="line">
            <a:avLst/>
          </a:prstGeom>
          <a:noFill/>
          <a:ln w="6350">
            <a:solidFill>
              <a:srgbClr val="1E6F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28600" y="6519672"/>
            <a:ext cx="0" cy="109728"/>
          </a:xfrm>
          <a:prstGeom prst="line">
            <a:avLst/>
          </a:prstGeom>
          <a:noFill/>
          <a:ln w="6350">
            <a:solidFill>
              <a:srgbClr val="1E6F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1853367" y="6629400"/>
            <a:ext cx="109728" cy="0"/>
          </a:xfrm>
          <a:prstGeom prst="line">
            <a:avLst/>
          </a:prstGeom>
          <a:noFill/>
          <a:ln w="6350">
            <a:solidFill>
              <a:srgbClr val="1E6F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1963095" y="6519672"/>
            <a:ext cx="0" cy="109728"/>
          </a:xfrm>
          <a:prstGeom prst="line">
            <a:avLst/>
          </a:prstGeom>
          <a:noFill/>
          <a:ln w="6350">
            <a:solidFill>
              <a:srgbClr val="1E6F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65760" y="6446520"/>
            <a:ext cx="11460175" cy="0"/>
          </a:xfrm>
          <a:prstGeom prst="line">
            <a:avLst/>
          </a:prstGeom>
          <a:noFill/>
          <a:ln w="6350">
            <a:solidFill>
              <a:srgbClr val="1C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65760" y="653796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8595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TAMID QUANT  //  NYU  //  TEMPLATE LIBRARY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1091672" y="653796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888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 / 24</a:t>
            </a:r>
            <a:endParaRPr lang="en-US" sz="800" dirty="0"/>
          </a:p>
        </p:txBody>
      </p:sp>
      <p:pic>
        <p:nvPicPr>
          <p:cNvPr id="17" name="Image 0" descr="/home/claude/mar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0511" y="1600200"/>
            <a:ext cx="3986784" cy="365760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48640" y="182880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TAMID</a:t>
            </a:r>
            <a:endParaRPr lang="en-US" sz="7200" dirty="0"/>
          </a:p>
        </p:txBody>
      </p:sp>
      <p:sp>
        <p:nvSpPr>
          <p:cNvPr id="19" name="Text 16"/>
          <p:cNvSpPr/>
          <p:nvPr/>
        </p:nvSpPr>
        <p:spPr>
          <a:xfrm>
            <a:off x="548640" y="284587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42B5E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QUANT</a:t>
            </a:r>
            <a:endParaRPr lang="en-US" sz="7200" dirty="0"/>
          </a:p>
        </p:txBody>
      </p:sp>
      <p:sp>
        <p:nvSpPr>
          <p:cNvPr id="20" name="Shape 17"/>
          <p:cNvSpPr/>
          <p:nvPr/>
        </p:nvSpPr>
        <p:spPr>
          <a:xfrm>
            <a:off x="548640" y="4101164"/>
            <a:ext cx="5029200" cy="0"/>
          </a:xfrm>
          <a:prstGeom prst="line">
            <a:avLst/>
          </a:prstGeom>
          <a:noFill/>
          <a:ln w="19050">
            <a:solidFill>
              <a:srgbClr val="42B5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548640" y="4206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NEW YORK UNIVERSITY  //  QUANT FINANCE DIVISION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48640" y="4937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 DECK TITLE GOES HERE ]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548640" y="5349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DBDB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Subtitle — date, audience, version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466576" cy="36576"/>
          </a:xfrm>
          <a:prstGeom prst="rect">
            <a:avLst/>
          </a:prstGeom>
          <a:solidFill>
            <a:srgbClr val="42B5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2B5E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02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68680" y="1371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  //  COVER — MINIMAL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411480"/>
            <a:ext cx="10881360" cy="0"/>
          </a:xfrm>
          <a:prstGeom prst="line">
            <a:avLst/>
          </a:prstGeom>
          <a:noFill/>
          <a:ln w="6350">
            <a:solidFill>
              <a:srgbClr val="1C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28600" y="228600"/>
            <a:ext cx="109728" cy="0"/>
          </a:xfrm>
          <a:prstGeom prst="line">
            <a:avLst/>
          </a:prstGeom>
          <a:noFill/>
          <a:ln w="6350">
            <a:solidFill>
              <a:srgbClr val="1E6F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28600" y="228600"/>
            <a:ext cx="0" cy="109728"/>
          </a:xfrm>
          <a:prstGeom prst="line">
            <a:avLst/>
          </a:prstGeom>
          <a:noFill/>
          <a:ln w="6350">
            <a:solidFill>
              <a:srgbClr val="1E6F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28600" y="6629400"/>
            <a:ext cx="109728" cy="0"/>
          </a:xfrm>
          <a:prstGeom prst="line">
            <a:avLst/>
          </a:prstGeom>
          <a:noFill/>
          <a:ln w="6350">
            <a:solidFill>
              <a:srgbClr val="1E6F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28600" y="6519672"/>
            <a:ext cx="0" cy="109728"/>
          </a:xfrm>
          <a:prstGeom prst="line">
            <a:avLst/>
          </a:prstGeom>
          <a:noFill/>
          <a:ln w="6350">
            <a:solidFill>
              <a:srgbClr val="1E6F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1853367" y="6629400"/>
            <a:ext cx="109728" cy="0"/>
          </a:xfrm>
          <a:prstGeom prst="line">
            <a:avLst/>
          </a:prstGeom>
          <a:noFill/>
          <a:ln w="6350">
            <a:solidFill>
              <a:srgbClr val="1E6F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1963095" y="6519672"/>
            <a:ext cx="0" cy="109728"/>
          </a:xfrm>
          <a:prstGeom prst="line">
            <a:avLst/>
          </a:prstGeom>
          <a:noFill/>
          <a:ln w="6350">
            <a:solidFill>
              <a:srgbClr val="1E6F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65760" y="6446520"/>
            <a:ext cx="11460175" cy="0"/>
          </a:xfrm>
          <a:prstGeom prst="line">
            <a:avLst/>
          </a:prstGeom>
          <a:noFill/>
          <a:ln w="6350">
            <a:solidFill>
              <a:srgbClr val="1C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65760" y="653796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8595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TAMID QUANT  //  NYU  //  TEMPLATE LIBRARY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1091672" y="653796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888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 / 24</a:t>
            </a:r>
            <a:endParaRPr lang="en-US" sz="800" dirty="0"/>
          </a:p>
        </p:txBody>
      </p:sp>
      <p:pic>
        <p:nvPicPr>
          <p:cNvPr id="17" name="Image 0" descr="/home/claude/mar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822960"/>
            <a:ext cx="1594714" cy="146304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48640" y="283464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 DECK TITLE ]</a:t>
            </a:r>
            <a:endParaRPr lang="en-US" sz="4800" dirty="0"/>
          </a:p>
        </p:txBody>
      </p:sp>
      <p:sp>
        <p:nvSpPr>
          <p:cNvPr id="19" name="Shape 16"/>
          <p:cNvSpPr/>
          <p:nvPr/>
        </p:nvSpPr>
        <p:spPr>
          <a:xfrm>
            <a:off x="548640" y="4206240"/>
            <a:ext cx="4572000" cy="0"/>
          </a:xfrm>
          <a:prstGeom prst="line">
            <a:avLst/>
          </a:prstGeom>
          <a:noFill/>
          <a:ln w="19050">
            <a:solidFill>
              <a:srgbClr val="42B5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548640" y="4389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DBDB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 Subtitle or one-line description ]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548640" y="57607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PRESENTED BY  //  [ NAME ]  //  [ DATE ]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466576" cy="36576"/>
          </a:xfrm>
          <a:prstGeom prst="rect">
            <a:avLst/>
          </a:prstGeom>
          <a:solidFill>
            <a:srgbClr val="42B5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2B5E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03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68680" y="1371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 //  AGENDA</a:t>
            </a:r>
            <a:endParaRPr lang="en-US" sz="900" dirty="0"/>
          </a:p>
        </p:txBody>
      </p:sp>
      <p:pic>
        <p:nvPicPr>
          <p:cNvPr id="5" name="Image 0" descr="/home/claude/mar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04285" y="164592"/>
            <a:ext cx="358811" cy="3291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411480"/>
            <a:ext cx="10881360" cy="0"/>
          </a:xfrm>
          <a:prstGeom prst="line">
            <a:avLst/>
          </a:prstGeom>
          <a:noFill/>
          <a:ln w="6350">
            <a:solidFill>
              <a:srgbClr val="1C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228600" y="228600"/>
            <a:ext cx="109728" cy="0"/>
          </a:xfrm>
          <a:prstGeom prst="line">
            <a:avLst/>
          </a:prstGeom>
          <a:noFill/>
          <a:ln w="6350">
            <a:solidFill>
              <a:srgbClr val="1E6F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228600" y="228600"/>
            <a:ext cx="0" cy="109728"/>
          </a:xfrm>
          <a:prstGeom prst="line">
            <a:avLst/>
          </a:prstGeom>
          <a:noFill/>
          <a:ln w="6350">
            <a:solidFill>
              <a:srgbClr val="1E6F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228600" y="6629400"/>
            <a:ext cx="109728" cy="0"/>
          </a:xfrm>
          <a:prstGeom prst="line">
            <a:avLst/>
          </a:prstGeom>
          <a:noFill/>
          <a:ln w="6350">
            <a:solidFill>
              <a:srgbClr val="1E6F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228600" y="6519672"/>
            <a:ext cx="0" cy="109728"/>
          </a:xfrm>
          <a:prstGeom prst="line">
            <a:avLst/>
          </a:prstGeom>
          <a:noFill/>
          <a:ln w="6350">
            <a:solidFill>
              <a:srgbClr val="1E6F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11853367" y="6629400"/>
            <a:ext cx="109728" cy="0"/>
          </a:xfrm>
          <a:prstGeom prst="line">
            <a:avLst/>
          </a:prstGeom>
          <a:noFill/>
          <a:ln w="6350">
            <a:solidFill>
              <a:srgbClr val="1E6F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11963095" y="6519672"/>
            <a:ext cx="0" cy="109728"/>
          </a:xfrm>
          <a:prstGeom prst="line">
            <a:avLst/>
          </a:prstGeom>
          <a:noFill/>
          <a:ln w="6350">
            <a:solidFill>
              <a:srgbClr val="1E6F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365760" y="6446520"/>
            <a:ext cx="11460175" cy="0"/>
          </a:xfrm>
          <a:prstGeom prst="line">
            <a:avLst/>
          </a:prstGeom>
          <a:noFill/>
          <a:ln w="6350">
            <a:solidFill>
              <a:srgbClr val="1C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365760" y="653796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8595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TAMID QUANT  //  NYU  //  TEMPLATE LIBRARY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11091672" y="653796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888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/ 24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365760" y="6400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AGENDA</a:t>
            </a:r>
            <a:endParaRPr lang="en-US" sz="3600" dirty="0"/>
          </a:p>
        </p:txBody>
      </p:sp>
      <p:sp>
        <p:nvSpPr>
          <p:cNvPr id="17" name="Shape 14"/>
          <p:cNvSpPr/>
          <p:nvPr/>
        </p:nvSpPr>
        <p:spPr>
          <a:xfrm>
            <a:off x="365760" y="1325880"/>
            <a:ext cx="3657600" cy="0"/>
          </a:xfrm>
          <a:prstGeom prst="line">
            <a:avLst/>
          </a:prstGeom>
          <a:noFill/>
          <a:ln w="19050">
            <a:solidFill>
              <a:srgbClr val="42B5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48640" y="23317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2B5E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280160" y="23317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 SECTION ONE ]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5486400" y="233172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DBDB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Brief description of what this section covers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48640" y="2880360"/>
            <a:ext cx="11064240" cy="0"/>
          </a:xfrm>
          <a:prstGeom prst="line">
            <a:avLst/>
          </a:prstGeom>
          <a:noFill/>
          <a:ln w="6350">
            <a:solidFill>
              <a:srgbClr val="1C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548640" y="29718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2B5E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1280160" y="29718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 SECTION TWO ]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5486400" y="297180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DBDB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Brief description of what this section covers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548640" y="3520440"/>
            <a:ext cx="11064240" cy="0"/>
          </a:xfrm>
          <a:prstGeom prst="line">
            <a:avLst/>
          </a:prstGeom>
          <a:noFill/>
          <a:ln w="6350">
            <a:solidFill>
              <a:srgbClr val="1C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548640" y="36118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2B5E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1280160" y="36118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 SECTION THREE ]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5486400" y="361188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DBDB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Brief description of what this section covers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548640" y="4160520"/>
            <a:ext cx="11064240" cy="0"/>
          </a:xfrm>
          <a:prstGeom prst="line">
            <a:avLst/>
          </a:prstGeom>
          <a:noFill/>
          <a:ln w="6350">
            <a:solidFill>
              <a:srgbClr val="1C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548640" y="42519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2B5E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1280160" y="42519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 SECTION FOUR ]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5486400" y="425196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DBDB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Brief description of what this section covers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548640" y="4800600"/>
            <a:ext cx="11064240" cy="0"/>
          </a:xfrm>
          <a:prstGeom prst="line">
            <a:avLst/>
          </a:prstGeom>
          <a:noFill/>
          <a:ln w="6350">
            <a:solidFill>
              <a:srgbClr val="1C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548640" y="48920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2B5E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1280160" y="48920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 SECTION FIVE ]</a:t>
            </a:r>
            <a:endParaRPr lang="en-US" sz="1400" dirty="0"/>
          </a:p>
        </p:txBody>
      </p:sp>
      <p:sp>
        <p:nvSpPr>
          <p:cNvPr id="36" name="Text 33"/>
          <p:cNvSpPr/>
          <p:nvPr/>
        </p:nvSpPr>
        <p:spPr>
          <a:xfrm>
            <a:off x="5486400" y="489204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DBDB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Brief description of what this section covers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548640" y="5440680"/>
            <a:ext cx="11064240" cy="0"/>
          </a:xfrm>
          <a:prstGeom prst="line">
            <a:avLst/>
          </a:prstGeom>
          <a:noFill/>
          <a:ln w="6350">
            <a:solidFill>
              <a:srgbClr val="1C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548640" y="55321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2B5E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</a:t>
            </a:r>
            <a:endParaRPr lang="en-US" sz="1400" dirty="0"/>
          </a:p>
        </p:txBody>
      </p:sp>
      <p:sp>
        <p:nvSpPr>
          <p:cNvPr id="39" name="Text 36"/>
          <p:cNvSpPr/>
          <p:nvPr/>
        </p:nvSpPr>
        <p:spPr>
          <a:xfrm>
            <a:off x="1280160" y="55321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 SECTION SIX ]</a:t>
            </a:r>
            <a:endParaRPr lang="en-US" sz="1400" dirty="0"/>
          </a:p>
        </p:txBody>
      </p:sp>
      <p:sp>
        <p:nvSpPr>
          <p:cNvPr id="40" name="Text 37"/>
          <p:cNvSpPr/>
          <p:nvPr/>
        </p:nvSpPr>
        <p:spPr>
          <a:xfrm>
            <a:off x="5486400" y="553212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DBDB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Brief description of what this section covers</a:t>
            </a:r>
            <a:endParaRPr lang="en-US" sz="1200" dirty="0"/>
          </a:p>
        </p:txBody>
      </p:sp>
      <p:sp>
        <p:nvSpPr>
          <p:cNvPr id="41" name="Shape 38"/>
          <p:cNvSpPr/>
          <p:nvPr/>
        </p:nvSpPr>
        <p:spPr>
          <a:xfrm>
            <a:off x="548640" y="6080760"/>
            <a:ext cx="11064240" cy="0"/>
          </a:xfrm>
          <a:prstGeom prst="line">
            <a:avLst/>
          </a:prstGeom>
          <a:noFill/>
          <a:ln w="6350">
            <a:solidFill>
              <a:srgbClr val="1C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466576" cy="36576"/>
          </a:xfrm>
          <a:prstGeom prst="rect">
            <a:avLst/>
          </a:prstGeom>
          <a:solidFill>
            <a:srgbClr val="42B5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2B5E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04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68680" y="1371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  //  SECTION OPENER</a:t>
            </a:r>
            <a:endParaRPr lang="en-US" sz="900" dirty="0"/>
          </a:p>
        </p:txBody>
      </p:sp>
      <p:pic>
        <p:nvPicPr>
          <p:cNvPr id="5" name="Image 0" descr="/home/claude/mar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04285" y="164592"/>
            <a:ext cx="358811" cy="3291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411480"/>
            <a:ext cx="10881360" cy="0"/>
          </a:xfrm>
          <a:prstGeom prst="line">
            <a:avLst/>
          </a:prstGeom>
          <a:noFill/>
          <a:ln w="6350">
            <a:solidFill>
              <a:srgbClr val="1C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228600" y="228600"/>
            <a:ext cx="109728" cy="0"/>
          </a:xfrm>
          <a:prstGeom prst="line">
            <a:avLst/>
          </a:prstGeom>
          <a:noFill/>
          <a:ln w="6350">
            <a:solidFill>
              <a:srgbClr val="1E6F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228600" y="228600"/>
            <a:ext cx="0" cy="109728"/>
          </a:xfrm>
          <a:prstGeom prst="line">
            <a:avLst/>
          </a:prstGeom>
          <a:noFill/>
          <a:ln w="6350">
            <a:solidFill>
              <a:srgbClr val="1E6F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228600" y="6629400"/>
            <a:ext cx="109728" cy="0"/>
          </a:xfrm>
          <a:prstGeom prst="line">
            <a:avLst/>
          </a:prstGeom>
          <a:noFill/>
          <a:ln w="6350">
            <a:solidFill>
              <a:srgbClr val="1E6F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228600" y="6519672"/>
            <a:ext cx="0" cy="109728"/>
          </a:xfrm>
          <a:prstGeom prst="line">
            <a:avLst/>
          </a:prstGeom>
          <a:noFill/>
          <a:ln w="6350">
            <a:solidFill>
              <a:srgbClr val="1E6F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11853367" y="6629400"/>
            <a:ext cx="109728" cy="0"/>
          </a:xfrm>
          <a:prstGeom prst="line">
            <a:avLst/>
          </a:prstGeom>
          <a:noFill/>
          <a:ln w="6350">
            <a:solidFill>
              <a:srgbClr val="1E6F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11963095" y="6519672"/>
            <a:ext cx="0" cy="109728"/>
          </a:xfrm>
          <a:prstGeom prst="line">
            <a:avLst/>
          </a:prstGeom>
          <a:noFill/>
          <a:ln w="6350">
            <a:solidFill>
              <a:srgbClr val="1E6F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365760" y="6446520"/>
            <a:ext cx="11460175" cy="0"/>
          </a:xfrm>
          <a:prstGeom prst="line">
            <a:avLst/>
          </a:prstGeom>
          <a:noFill/>
          <a:ln w="6350">
            <a:solidFill>
              <a:srgbClr val="1C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365760" y="653796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8595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TAMID QUANT  //  NYU  //  TEMPLATE LIBRARY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11091672" y="653796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888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 / 24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548640" y="118872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1E6F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8000" dirty="0"/>
          </a:p>
        </p:txBody>
      </p:sp>
      <p:sp>
        <p:nvSpPr>
          <p:cNvPr id="17" name="Text 14"/>
          <p:cNvSpPr/>
          <p:nvPr/>
        </p:nvSpPr>
        <p:spPr>
          <a:xfrm>
            <a:off x="548640" y="2651760"/>
            <a:ext cx="10972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 SECTION TITLE ]</a:t>
            </a:r>
            <a:endParaRPr lang="en-US" sz="5600" dirty="0"/>
          </a:p>
        </p:txBody>
      </p:sp>
      <p:sp>
        <p:nvSpPr>
          <p:cNvPr id="18" name="Shape 15"/>
          <p:cNvSpPr/>
          <p:nvPr/>
        </p:nvSpPr>
        <p:spPr>
          <a:xfrm>
            <a:off x="548640" y="4023360"/>
            <a:ext cx="4572000" cy="0"/>
          </a:xfrm>
          <a:prstGeom prst="line">
            <a:avLst/>
          </a:prstGeom>
          <a:noFill/>
          <a:ln w="19050">
            <a:solidFill>
              <a:srgbClr val="42B5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548640" y="42976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BDBDB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 One-sentence framing of the section. ]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548640" y="48463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888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 Optional supporting context — why this matters, where it fits. ]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466576" cy="36576"/>
          </a:xfrm>
          <a:prstGeom prst="rect">
            <a:avLst/>
          </a:prstGeom>
          <a:solidFill>
            <a:srgbClr val="42B5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2B5E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05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68680" y="1371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  //  STATEMENT / QUOTE</a:t>
            </a:r>
            <a:endParaRPr lang="en-US" sz="900" dirty="0"/>
          </a:p>
        </p:txBody>
      </p:sp>
      <p:pic>
        <p:nvPicPr>
          <p:cNvPr id="5" name="Image 0" descr="/home/claude/mar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04285" y="164592"/>
            <a:ext cx="358811" cy="3291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411480"/>
            <a:ext cx="10881360" cy="0"/>
          </a:xfrm>
          <a:prstGeom prst="line">
            <a:avLst/>
          </a:prstGeom>
          <a:noFill/>
          <a:ln w="6350">
            <a:solidFill>
              <a:srgbClr val="1C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228600" y="228600"/>
            <a:ext cx="109728" cy="0"/>
          </a:xfrm>
          <a:prstGeom prst="line">
            <a:avLst/>
          </a:prstGeom>
          <a:noFill/>
          <a:ln w="6350">
            <a:solidFill>
              <a:srgbClr val="1E6F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228600" y="228600"/>
            <a:ext cx="0" cy="109728"/>
          </a:xfrm>
          <a:prstGeom prst="line">
            <a:avLst/>
          </a:prstGeom>
          <a:noFill/>
          <a:ln w="6350">
            <a:solidFill>
              <a:srgbClr val="1E6F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228600" y="6629400"/>
            <a:ext cx="109728" cy="0"/>
          </a:xfrm>
          <a:prstGeom prst="line">
            <a:avLst/>
          </a:prstGeom>
          <a:noFill/>
          <a:ln w="6350">
            <a:solidFill>
              <a:srgbClr val="1E6F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228600" y="6519672"/>
            <a:ext cx="0" cy="109728"/>
          </a:xfrm>
          <a:prstGeom prst="line">
            <a:avLst/>
          </a:prstGeom>
          <a:noFill/>
          <a:ln w="6350">
            <a:solidFill>
              <a:srgbClr val="1E6F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11853367" y="6629400"/>
            <a:ext cx="109728" cy="0"/>
          </a:xfrm>
          <a:prstGeom prst="line">
            <a:avLst/>
          </a:prstGeom>
          <a:noFill/>
          <a:ln w="6350">
            <a:solidFill>
              <a:srgbClr val="1E6F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11963095" y="6519672"/>
            <a:ext cx="0" cy="109728"/>
          </a:xfrm>
          <a:prstGeom prst="line">
            <a:avLst/>
          </a:prstGeom>
          <a:noFill/>
          <a:ln w="6350">
            <a:solidFill>
              <a:srgbClr val="1E6F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365760" y="6446520"/>
            <a:ext cx="11460175" cy="0"/>
          </a:xfrm>
          <a:prstGeom prst="line">
            <a:avLst/>
          </a:prstGeom>
          <a:noFill/>
          <a:ln w="6350">
            <a:solidFill>
              <a:srgbClr val="1C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365760" y="653796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8595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TAMID QUANT  //  NYU  //  TEMPLATE LIBRARY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11091672" y="653796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888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 / 24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548640" y="128016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0" b="1" dirty="0">
                <a:solidFill>
                  <a:srgbClr val="1E6F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“</a:t>
            </a:r>
            <a:endParaRPr lang="en-US" sz="20000" dirty="0"/>
          </a:p>
        </p:txBody>
      </p:sp>
      <p:sp>
        <p:nvSpPr>
          <p:cNvPr id="17" name="Text 14"/>
          <p:cNvSpPr/>
          <p:nvPr/>
        </p:nvSpPr>
        <p:spPr>
          <a:xfrm>
            <a:off x="1645920" y="2194560"/>
            <a:ext cx="10058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 A single bold statement, thesis, or quote. Keep it short — under 20 words. ]</a:t>
            </a:r>
            <a:endParaRPr lang="en-US" sz="2600" dirty="0"/>
          </a:p>
        </p:txBody>
      </p:sp>
      <p:sp>
        <p:nvSpPr>
          <p:cNvPr id="18" name="Shape 15"/>
          <p:cNvSpPr/>
          <p:nvPr/>
        </p:nvSpPr>
        <p:spPr>
          <a:xfrm>
            <a:off x="1645920" y="4846320"/>
            <a:ext cx="3657600" cy="0"/>
          </a:xfrm>
          <a:prstGeom prst="line">
            <a:avLst/>
          </a:prstGeom>
          <a:noFill/>
          <a:ln w="19050">
            <a:solidFill>
              <a:srgbClr val="42B5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1645920" y="5029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888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— [ ATTRIBUTION OR SOURCE ]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466576" cy="36576"/>
          </a:xfrm>
          <a:prstGeom prst="rect">
            <a:avLst/>
          </a:prstGeom>
          <a:solidFill>
            <a:srgbClr val="42B5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2B5E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06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68680" y="1371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  //  TWO COLUMN — TEXT + SIDEBAR</a:t>
            </a:r>
            <a:endParaRPr lang="en-US" sz="900" dirty="0"/>
          </a:p>
        </p:txBody>
      </p:sp>
      <p:pic>
        <p:nvPicPr>
          <p:cNvPr id="5" name="Image 0" descr="/home/claude/mar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04285" y="164592"/>
            <a:ext cx="358811" cy="3291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411480"/>
            <a:ext cx="10881360" cy="0"/>
          </a:xfrm>
          <a:prstGeom prst="line">
            <a:avLst/>
          </a:prstGeom>
          <a:noFill/>
          <a:ln w="6350">
            <a:solidFill>
              <a:srgbClr val="1C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228600" y="228600"/>
            <a:ext cx="109728" cy="0"/>
          </a:xfrm>
          <a:prstGeom prst="line">
            <a:avLst/>
          </a:prstGeom>
          <a:noFill/>
          <a:ln w="6350">
            <a:solidFill>
              <a:srgbClr val="1E6F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228600" y="228600"/>
            <a:ext cx="0" cy="109728"/>
          </a:xfrm>
          <a:prstGeom prst="line">
            <a:avLst/>
          </a:prstGeom>
          <a:noFill/>
          <a:ln w="6350">
            <a:solidFill>
              <a:srgbClr val="1E6F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228600" y="6629400"/>
            <a:ext cx="109728" cy="0"/>
          </a:xfrm>
          <a:prstGeom prst="line">
            <a:avLst/>
          </a:prstGeom>
          <a:noFill/>
          <a:ln w="6350">
            <a:solidFill>
              <a:srgbClr val="1E6F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228600" y="6519672"/>
            <a:ext cx="0" cy="109728"/>
          </a:xfrm>
          <a:prstGeom prst="line">
            <a:avLst/>
          </a:prstGeom>
          <a:noFill/>
          <a:ln w="6350">
            <a:solidFill>
              <a:srgbClr val="1E6F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11853367" y="6629400"/>
            <a:ext cx="109728" cy="0"/>
          </a:xfrm>
          <a:prstGeom prst="line">
            <a:avLst/>
          </a:prstGeom>
          <a:noFill/>
          <a:ln w="6350">
            <a:solidFill>
              <a:srgbClr val="1E6F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11963095" y="6519672"/>
            <a:ext cx="0" cy="109728"/>
          </a:xfrm>
          <a:prstGeom prst="line">
            <a:avLst/>
          </a:prstGeom>
          <a:noFill/>
          <a:ln w="6350">
            <a:solidFill>
              <a:srgbClr val="1E6F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365760" y="6446520"/>
            <a:ext cx="11460175" cy="0"/>
          </a:xfrm>
          <a:prstGeom prst="line">
            <a:avLst/>
          </a:prstGeom>
          <a:noFill/>
          <a:ln w="6350">
            <a:solidFill>
              <a:srgbClr val="1C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365760" y="653796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8595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TAMID QUANT  //  NYU  //  TEMPLATE LIBRARY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11091672" y="653796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888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 / 24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365760" y="6400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 PAGE TITLE ]</a:t>
            </a:r>
            <a:endParaRPr lang="en-US" sz="3600" dirty="0"/>
          </a:p>
        </p:txBody>
      </p:sp>
      <p:sp>
        <p:nvSpPr>
          <p:cNvPr id="17" name="Shape 14"/>
          <p:cNvSpPr/>
          <p:nvPr/>
        </p:nvSpPr>
        <p:spPr>
          <a:xfrm>
            <a:off x="365760" y="1325880"/>
            <a:ext cx="3657600" cy="0"/>
          </a:xfrm>
          <a:prstGeom prst="line">
            <a:avLst/>
          </a:prstGeom>
          <a:noFill/>
          <a:ln w="19050">
            <a:solidFill>
              <a:srgbClr val="42B5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365760" y="2377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 Lead paragraph stating the setup ]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365760" y="2834640"/>
            <a:ext cx="7315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DBDB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First supporting point. Keep it tight — one idea per paragraph, no padding. Numbers anchor every claim, not adjectives.</a:t>
            </a:r>
            <a:endParaRPr lang="en-US" sz="1100" dirty="0"/>
          </a:p>
          <a:p>
            <a:pPr marL="0" indent="0">
              <a:buNone/>
            </a:pPr>
            <a:r>
              <a:rPr lang="en-US" sz="600" dirty="0">
                <a:solidFill>
                  <a:srgbClr val="BDBDB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DBDB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Second supporting point. Walk the reader through the dislocation, the data, and what makes the moment actionable.</a:t>
            </a:r>
            <a:endParaRPr lang="en-US" sz="1100" dirty="0"/>
          </a:p>
          <a:p>
            <a:pPr marL="0" indent="0">
              <a:buNone/>
            </a:pPr>
            <a:r>
              <a:rPr lang="en-US" sz="600" dirty="0">
                <a:solidFill>
                  <a:srgbClr val="BDBDB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DBDB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Third point if needed. Otherwise stop here. Density beats verbosity in research material.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7955280" y="2377440"/>
            <a:ext cx="3840480" cy="3657600"/>
          </a:xfrm>
          <a:prstGeom prst="rect">
            <a:avLst/>
          </a:prstGeom>
          <a:solidFill>
            <a:srgbClr val="0F0F0F"/>
          </a:solidFill>
          <a:ln w="6350">
            <a:solidFill>
              <a:srgbClr val="1E6F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8138160" y="25146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2B5E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KEY METRICS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8138160" y="2834640"/>
            <a:ext cx="3474720" cy="0"/>
          </a:xfrm>
          <a:prstGeom prst="line">
            <a:avLst/>
          </a:prstGeom>
          <a:noFill/>
          <a:ln w="6350">
            <a:solidFill>
              <a:srgbClr val="0D3D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8138160" y="3017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 LABEL ]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9784080" y="3017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8888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 VAL ]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8138160" y="34290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 LABEL ]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9784080" y="3429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8888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 VAL ]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8138160" y="38404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 LABEL ]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9784080" y="3840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8888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 VAL ]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8138160" y="42519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 LABEL ]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9784080" y="4251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2B5E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 VAL ]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8138160" y="46634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 LABEL ]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9784080" y="4663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CC7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 VAL ]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8138160" y="50749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 LABEL ]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9784080" y="5074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74C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 VAL ]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466576" cy="36576"/>
          </a:xfrm>
          <a:prstGeom prst="rect">
            <a:avLst/>
          </a:prstGeom>
          <a:solidFill>
            <a:srgbClr val="42B5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2B5E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07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68680" y="1371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  //  TWO COLUMN — 50/50</a:t>
            </a:r>
            <a:endParaRPr lang="en-US" sz="900" dirty="0"/>
          </a:p>
        </p:txBody>
      </p:sp>
      <p:pic>
        <p:nvPicPr>
          <p:cNvPr id="5" name="Image 0" descr="/home/claude/mar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04285" y="164592"/>
            <a:ext cx="358811" cy="3291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411480"/>
            <a:ext cx="10881360" cy="0"/>
          </a:xfrm>
          <a:prstGeom prst="line">
            <a:avLst/>
          </a:prstGeom>
          <a:noFill/>
          <a:ln w="6350">
            <a:solidFill>
              <a:srgbClr val="1C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228600" y="228600"/>
            <a:ext cx="109728" cy="0"/>
          </a:xfrm>
          <a:prstGeom prst="line">
            <a:avLst/>
          </a:prstGeom>
          <a:noFill/>
          <a:ln w="6350">
            <a:solidFill>
              <a:srgbClr val="1E6F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228600" y="228600"/>
            <a:ext cx="0" cy="109728"/>
          </a:xfrm>
          <a:prstGeom prst="line">
            <a:avLst/>
          </a:prstGeom>
          <a:noFill/>
          <a:ln w="6350">
            <a:solidFill>
              <a:srgbClr val="1E6F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228600" y="6629400"/>
            <a:ext cx="109728" cy="0"/>
          </a:xfrm>
          <a:prstGeom prst="line">
            <a:avLst/>
          </a:prstGeom>
          <a:noFill/>
          <a:ln w="6350">
            <a:solidFill>
              <a:srgbClr val="1E6F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228600" y="6519672"/>
            <a:ext cx="0" cy="109728"/>
          </a:xfrm>
          <a:prstGeom prst="line">
            <a:avLst/>
          </a:prstGeom>
          <a:noFill/>
          <a:ln w="6350">
            <a:solidFill>
              <a:srgbClr val="1E6F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11853367" y="6629400"/>
            <a:ext cx="109728" cy="0"/>
          </a:xfrm>
          <a:prstGeom prst="line">
            <a:avLst/>
          </a:prstGeom>
          <a:noFill/>
          <a:ln w="6350">
            <a:solidFill>
              <a:srgbClr val="1E6F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11963095" y="6519672"/>
            <a:ext cx="0" cy="109728"/>
          </a:xfrm>
          <a:prstGeom prst="line">
            <a:avLst/>
          </a:prstGeom>
          <a:noFill/>
          <a:ln w="6350">
            <a:solidFill>
              <a:srgbClr val="1E6F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365760" y="6446520"/>
            <a:ext cx="11460175" cy="0"/>
          </a:xfrm>
          <a:prstGeom prst="line">
            <a:avLst/>
          </a:prstGeom>
          <a:noFill/>
          <a:ln w="6350">
            <a:solidFill>
              <a:srgbClr val="1C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365760" y="653796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8595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TAMID QUANT  //  NYU  //  TEMPLATE LIBRARY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11091672" y="653796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888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 / 24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365760" y="6400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 PAGE TITLE ]</a:t>
            </a:r>
            <a:endParaRPr lang="en-US" sz="3600" dirty="0"/>
          </a:p>
        </p:txBody>
      </p:sp>
      <p:sp>
        <p:nvSpPr>
          <p:cNvPr id="17" name="Shape 14"/>
          <p:cNvSpPr/>
          <p:nvPr/>
        </p:nvSpPr>
        <p:spPr>
          <a:xfrm>
            <a:off x="365760" y="1325880"/>
            <a:ext cx="3657600" cy="0"/>
          </a:xfrm>
          <a:prstGeom prst="line">
            <a:avLst/>
          </a:prstGeom>
          <a:noFill/>
          <a:ln w="19050">
            <a:solidFill>
              <a:srgbClr val="42B5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365760" y="237744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 COLUMN ONE TITLE ]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365760" y="2788920"/>
            <a:ext cx="5577840" cy="0"/>
          </a:xfrm>
          <a:prstGeom prst="line">
            <a:avLst/>
          </a:prstGeom>
          <a:noFill/>
          <a:ln w="6350">
            <a:solidFill>
              <a:srgbClr val="42B5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365760" y="2926080"/>
            <a:ext cx="55778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DBDB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 Body content for the left column. Use this layout for compare/contrast, before/after, or two parallel arguments. ]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263640" y="237744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 COLUMN TWO TITLE ]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6263640" y="2788920"/>
            <a:ext cx="5577840" cy="0"/>
          </a:xfrm>
          <a:prstGeom prst="line">
            <a:avLst/>
          </a:prstGeom>
          <a:noFill/>
          <a:ln w="6350">
            <a:solidFill>
              <a:srgbClr val="42B5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6263640" y="2926080"/>
            <a:ext cx="55778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DBDB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 Body content for the right column. ]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6080760" y="2377440"/>
            <a:ext cx="0" cy="3657600"/>
          </a:xfrm>
          <a:prstGeom prst="line">
            <a:avLst/>
          </a:prstGeom>
          <a:noFill/>
          <a:ln w="6350">
            <a:solidFill>
              <a:srgbClr val="1C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466576" cy="36576"/>
          </a:xfrm>
          <a:prstGeom prst="rect">
            <a:avLst/>
          </a:prstGeom>
          <a:solidFill>
            <a:srgbClr val="42B5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2B5E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08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68680" y="1371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  //  THREE COLUMN GRID</a:t>
            </a:r>
            <a:endParaRPr lang="en-US" sz="900" dirty="0"/>
          </a:p>
        </p:txBody>
      </p:sp>
      <p:pic>
        <p:nvPicPr>
          <p:cNvPr id="5" name="Image 0" descr="/home/claude/mar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04285" y="164592"/>
            <a:ext cx="358811" cy="3291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411480"/>
            <a:ext cx="10881360" cy="0"/>
          </a:xfrm>
          <a:prstGeom prst="line">
            <a:avLst/>
          </a:prstGeom>
          <a:noFill/>
          <a:ln w="6350">
            <a:solidFill>
              <a:srgbClr val="1C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228600" y="228600"/>
            <a:ext cx="109728" cy="0"/>
          </a:xfrm>
          <a:prstGeom prst="line">
            <a:avLst/>
          </a:prstGeom>
          <a:noFill/>
          <a:ln w="6350">
            <a:solidFill>
              <a:srgbClr val="1E6F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228600" y="228600"/>
            <a:ext cx="0" cy="109728"/>
          </a:xfrm>
          <a:prstGeom prst="line">
            <a:avLst/>
          </a:prstGeom>
          <a:noFill/>
          <a:ln w="6350">
            <a:solidFill>
              <a:srgbClr val="1E6F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228600" y="6629400"/>
            <a:ext cx="109728" cy="0"/>
          </a:xfrm>
          <a:prstGeom prst="line">
            <a:avLst/>
          </a:prstGeom>
          <a:noFill/>
          <a:ln w="6350">
            <a:solidFill>
              <a:srgbClr val="1E6F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228600" y="6519672"/>
            <a:ext cx="0" cy="109728"/>
          </a:xfrm>
          <a:prstGeom prst="line">
            <a:avLst/>
          </a:prstGeom>
          <a:noFill/>
          <a:ln w="6350">
            <a:solidFill>
              <a:srgbClr val="1E6F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11853367" y="6629400"/>
            <a:ext cx="109728" cy="0"/>
          </a:xfrm>
          <a:prstGeom prst="line">
            <a:avLst/>
          </a:prstGeom>
          <a:noFill/>
          <a:ln w="6350">
            <a:solidFill>
              <a:srgbClr val="1E6F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11963095" y="6519672"/>
            <a:ext cx="0" cy="109728"/>
          </a:xfrm>
          <a:prstGeom prst="line">
            <a:avLst/>
          </a:prstGeom>
          <a:noFill/>
          <a:ln w="6350">
            <a:solidFill>
              <a:srgbClr val="1E6F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365760" y="6446520"/>
            <a:ext cx="11460175" cy="0"/>
          </a:xfrm>
          <a:prstGeom prst="line">
            <a:avLst/>
          </a:prstGeom>
          <a:noFill/>
          <a:ln w="6350">
            <a:solidFill>
              <a:srgbClr val="1C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365760" y="653796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8595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TAMID QUANT  //  NYU  //  TEMPLATE LIBRARY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11091672" y="653796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888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 / 24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365760" y="6400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 HEADLINE ]</a:t>
            </a:r>
            <a:endParaRPr lang="en-US" sz="3600" dirty="0"/>
          </a:p>
        </p:txBody>
      </p:sp>
      <p:sp>
        <p:nvSpPr>
          <p:cNvPr id="17" name="Text 14"/>
          <p:cNvSpPr/>
          <p:nvPr/>
        </p:nvSpPr>
        <p:spPr>
          <a:xfrm>
            <a:off x="365760" y="129844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42B5E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 SECOND LINE ]</a:t>
            </a:r>
            <a:endParaRPr lang="en-US" sz="3600" dirty="0"/>
          </a:p>
        </p:txBody>
      </p:sp>
      <p:sp>
        <p:nvSpPr>
          <p:cNvPr id="18" name="Shape 15"/>
          <p:cNvSpPr/>
          <p:nvPr/>
        </p:nvSpPr>
        <p:spPr>
          <a:xfrm>
            <a:off x="365760" y="1993392"/>
            <a:ext cx="3657600" cy="0"/>
          </a:xfrm>
          <a:prstGeom prst="line">
            <a:avLst/>
          </a:prstGeom>
          <a:noFill/>
          <a:ln w="19050">
            <a:solidFill>
              <a:srgbClr val="42B5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365760" y="233172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DBDB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 Optional intro paragraph framing the three columns below. ]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365760" y="2926080"/>
            <a:ext cx="3703320" cy="2926080"/>
          </a:xfrm>
          <a:prstGeom prst="rect">
            <a:avLst/>
          </a:prstGeom>
          <a:solidFill>
            <a:srgbClr val="141414"/>
          </a:solidFill>
          <a:ln w="6350">
            <a:solidFill>
              <a:srgbClr val="1E6F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640080" y="31546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2B5E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640080" y="352044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 ITEM ONE ]</a:t>
            </a:r>
            <a:endParaRPr lang="en-US" sz="2000" dirty="0"/>
          </a:p>
        </p:txBody>
      </p:sp>
      <p:sp>
        <p:nvSpPr>
          <p:cNvPr id="23" name="Shape 20"/>
          <p:cNvSpPr/>
          <p:nvPr/>
        </p:nvSpPr>
        <p:spPr>
          <a:xfrm>
            <a:off x="640080" y="4251960"/>
            <a:ext cx="3154680" cy="0"/>
          </a:xfrm>
          <a:prstGeom prst="line">
            <a:avLst/>
          </a:prstGeom>
          <a:noFill/>
          <a:ln w="6350">
            <a:solidFill>
              <a:srgbClr val="0D3D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640080" y="4389120"/>
            <a:ext cx="3246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BDBDB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 Description for the first item — what it is, why it matters, what to take away. ]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4251960" y="2926080"/>
            <a:ext cx="3703320" cy="2926080"/>
          </a:xfrm>
          <a:prstGeom prst="rect">
            <a:avLst/>
          </a:prstGeom>
          <a:solidFill>
            <a:srgbClr val="141414"/>
          </a:solidFill>
          <a:ln w="6350">
            <a:solidFill>
              <a:srgbClr val="1E6F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4526280" y="31546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2B5E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4526280" y="352044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 ITEM TWO ]</a:t>
            </a:r>
            <a:endParaRPr lang="en-US" sz="2000" dirty="0"/>
          </a:p>
        </p:txBody>
      </p:sp>
      <p:sp>
        <p:nvSpPr>
          <p:cNvPr id="28" name="Shape 25"/>
          <p:cNvSpPr/>
          <p:nvPr/>
        </p:nvSpPr>
        <p:spPr>
          <a:xfrm>
            <a:off x="4526280" y="4251960"/>
            <a:ext cx="3154680" cy="0"/>
          </a:xfrm>
          <a:prstGeom prst="line">
            <a:avLst/>
          </a:prstGeom>
          <a:noFill/>
          <a:ln w="6350">
            <a:solidFill>
              <a:srgbClr val="0D3D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4526280" y="4389120"/>
            <a:ext cx="3246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BDBDB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 Description for the second item — what it is, why it matters, what to take away. ]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8138160" y="2926080"/>
            <a:ext cx="3703320" cy="2926080"/>
          </a:xfrm>
          <a:prstGeom prst="rect">
            <a:avLst/>
          </a:prstGeom>
          <a:solidFill>
            <a:srgbClr val="141414"/>
          </a:solidFill>
          <a:ln w="6350">
            <a:solidFill>
              <a:srgbClr val="1E6F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8412480" y="31546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2B5E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8412480" y="352044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 ITEM THREE ]</a:t>
            </a:r>
            <a:endParaRPr lang="en-US" sz="2000" dirty="0"/>
          </a:p>
        </p:txBody>
      </p:sp>
      <p:sp>
        <p:nvSpPr>
          <p:cNvPr id="33" name="Shape 30"/>
          <p:cNvSpPr/>
          <p:nvPr/>
        </p:nvSpPr>
        <p:spPr>
          <a:xfrm>
            <a:off x="8412480" y="4251960"/>
            <a:ext cx="3154680" cy="0"/>
          </a:xfrm>
          <a:prstGeom prst="line">
            <a:avLst/>
          </a:prstGeom>
          <a:noFill/>
          <a:ln w="6350">
            <a:solidFill>
              <a:srgbClr val="0D3D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8412480" y="4389120"/>
            <a:ext cx="3246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BDBDB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 Description for the third item — what it is, why it matters, what to take away. ]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466576" cy="36576"/>
          </a:xfrm>
          <a:prstGeom prst="rect">
            <a:avLst/>
          </a:prstGeom>
          <a:solidFill>
            <a:srgbClr val="42B5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2B5E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09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68680" y="1371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09  //  STAT CALLOUT — 4 KPIs</a:t>
            </a:r>
            <a:endParaRPr lang="en-US" sz="900" dirty="0"/>
          </a:p>
        </p:txBody>
      </p:sp>
      <p:pic>
        <p:nvPicPr>
          <p:cNvPr id="5" name="Image 0" descr="/home/claude/mar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04285" y="164592"/>
            <a:ext cx="358811" cy="3291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411480"/>
            <a:ext cx="10881360" cy="0"/>
          </a:xfrm>
          <a:prstGeom prst="line">
            <a:avLst/>
          </a:prstGeom>
          <a:noFill/>
          <a:ln w="6350">
            <a:solidFill>
              <a:srgbClr val="1C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228600" y="228600"/>
            <a:ext cx="109728" cy="0"/>
          </a:xfrm>
          <a:prstGeom prst="line">
            <a:avLst/>
          </a:prstGeom>
          <a:noFill/>
          <a:ln w="6350">
            <a:solidFill>
              <a:srgbClr val="1E6F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228600" y="228600"/>
            <a:ext cx="0" cy="109728"/>
          </a:xfrm>
          <a:prstGeom prst="line">
            <a:avLst/>
          </a:prstGeom>
          <a:noFill/>
          <a:ln w="6350">
            <a:solidFill>
              <a:srgbClr val="1E6F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228600" y="6629400"/>
            <a:ext cx="109728" cy="0"/>
          </a:xfrm>
          <a:prstGeom prst="line">
            <a:avLst/>
          </a:prstGeom>
          <a:noFill/>
          <a:ln w="6350">
            <a:solidFill>
              <a:srgbClr val="1E6F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228600" y="6519672"/>
            <a:ext cx="0" cy="109728"/>
          </a:xfrm>
          <a:prstGeom prst="line">
            <a:avLst/>
          </a:prstGeom>
          <a:noFill/>
          <a:ln w="6350">
            <a:solidFill>
              <a:srgbClr val="1E6F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11853367" y="6629400"/>
            <a:ext cx="109728" cy="0"/>
          </a:xfrm>
          <a:prstGeom prst="line">
            <a:avLst/>
          </a:prstGeom>
          <a:noFill/>
          <a:ln w="6350">
            <a:solidFill>
              <a:srgbClr val="1E6F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11963095" y="6519672"/>
            <a:ext cx="0" cy="109728"/>
          </a:xfrm>
          <a:prstGeom prst="line">
            <a:avLst/>
          </a:prstGeom>
          <a:noFill/>
          <a:ln w="6350">
            <a:solidFill>
              <a:srgbClr val="1E6F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365760" y="6446520"/>
            <a:ext cx="11460175" cy="0"/>
          </a:xfrm>
          <a:prstGeom prst="line">
            <a:avLst/>
          </a:prstGeom>
          <a:noFill/>
          <a:ln w="6350">
            <a:solidFill>
              <a:srgbClr val="1C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365760" y="653796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8595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TAMID QUANT  //  NYU  //  TEMPLATE LIBRARY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11091672" y="653796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888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09 / 24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365760" y="6400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 PAGE TITLE ]</a:t>
            </a:r>
            <a:endParaRPr lang="en-US" sz="3600" dirty="0"/>
          </a:p>
        </p:txBody>
      </p:sp>
      <p:sp>
        <p:nvSpPr>
          <p:cNvPr id="17" name="Shape 14"/>
          <p:cNvSpPr/>
          <p:nvPr/>
        </p:nvSpPr>
        <p:spPr>
          <a:xfrm>
            <a:off x="365760" y="1325880"/>
            <a:ext cx="3657600" cy="0"/>
          </a:xfrm>
          <a:prstGeom prst="line">
            <a:avLst/>
          </a:prstGeom>
          <a:noFill/>
          <a:ln w="19050">
            <a:solidFill>
              <a:srgbClr val="42B5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365760" y="2331720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DBDB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 Optional intro line. ]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365760" y="2743200"/>
            <a:ext cx="2697480" cy="2286000"/>
          </a:xfrm>
          <a:prstGeom prst="rect">
            <a:avLst/>
          </a:prstGeom>
          <a:solidFill>
            <a:srgbClr val="141414"/>
          </a:solidFill>
          <a:ln w="6350">
            <a:solidFill>
              <a:srgbClr val="1A3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365760" y="2743200"/>
            <a:ext cx="45720" cy="2286000"/>
          </a:xfrm>
          <a:prstGeom prst="rect">
            <a:avLst/>
          </a:prstGeom>
          <a:solidFill>
            <a:srgbClr val="42B5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594360" y="29718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 LABEL ]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594360" y="338328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2B5E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1.84</a:t>
            </a:r>
            <a:endParaRPr lang="en-US" sz="2800" dirty="0"/>
          </a:p>
        </p:txBody>
      </p:sp>
      <p:sp>
        <p:nvSpPr>
          <p:cNvPr id="23" name="Text 20"/>
          <p:cNvSpPr/>
          <p:nvPr/>
        </p:nvSpPr>
        <p:spPr>
          <a:xfrm>
            <a:off x="594360" y="45262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DBDB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 SUB ]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3200400" y="2743200"/>
            <a:ext cx="2697480" cy="2286000"/>
          </a:xfrm>
          <a:prstGeom prst="rect">
            <a:avLst/>
          </a:prstGeom>
          <a:solidFill>
            <a:srgbClr val="141414"/>
          </a:solidFill>
          <a:ln w="6350">
            <a:solidFill>
              <a:srgbClr val="1A3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3200400" y="2743200"/>
            <a:ext cx="45720" cy="2286000"/>
          </a:xfrm>
          <a:prstGeom prst="rect">
            <a:avLst/>
          </a:prstGeom>
          <a:solidFill>
            <a:srgbClr val="42B5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3429000" y="29718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 LABEL ]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3429000" y="338328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74C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-8.2%</a:t>
            </a:r>
            <a:endParaRPr lang="en-US" sz="2800" dirty="0"/>
          </a:p>
        </p:txBody>
      </p:sp>
      <p:sp>
        <p:nvSpPr>
          <p:cNvPr id="28" name="Text 25"/>
          <p:cNvSpPr/>
          <p:nvPr/>
        </p:nvSpPr>
        <p:spPr>
          <a:xfrm>
            <a:off x="3429000" y="45262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DBDB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 SUB ]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6035040" y="2743200"/>
            <a:ext cx="2697480" cy="2286000"/>
          </a:xfrm>
          <a:prstGeom prst="rect">
            <a:avLst/>
          </a:prstGeom>
          <a:solidFill>
            <a:srgbClr val="141414"/>
          </a:solidFill>
          <a:ln w="6350">
            <a:solidFill>
              <a:srgbClr val="1A3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6035040" y="2743200"/>
            <a:ext cx="45720" cy="2286000"/>
          </a:xfrm>
          <a:prstGeom prst="rect">
            <a:avLst/>
          </a:prstGeom>
          <a:solidFill>
            <a:srgbClr val="42B5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6263640" y="29718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 LABEL ]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6263640" y="338328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ECC7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+24.6%</a:t>
            </a:r>
            <a:endParaRPr lang="en-US" sz="2800" dirty="0"/>
          </a:p>
        </p:txBody>
      </p:sp>
      <p:sp>
        <p:nvSpPr>
          <p:cNvPr id="33" name="Text 30"/>
          <p:cNvSpPr/>
          <p:nvPr/>
        </p:nvSpPr>
        <p:spPr>
          <a:xfrm>
            <a:off x="6263640" y="45262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DBDB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 SUB ]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8869680" y="2743200"/>
            <a:ext cx="2697480" cy="2286000"/>
          </a:xfrm>
          <a:prstGeom prst="rect">
            <a:avLst/>
          </a:prstGeom>
          <a:solidFill>
            <a:srgbClr val="141414"/>
          </a:solidFill>
          <a:ln w="6350">
            <a:solidFill>
              <a:srgbClr val="1A3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2"/>
          <p:cNvSpPr/>
          <p:nvPr/>
        </p:nvSpPr>
        <p:spPr>
          <a:xfrm>
            <a:off x="8869680" y="2743200"/>
            <a:ext cx="45720" cy="2286000"/>
          </a:xfrm>
          <a:prstGeom prst="rect">
            <a:avLst/>
          </a:prstGeom>
          <a:solidFill>
            <a:srgbClr val="42B5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9098280" y="29718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 LABEL ]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9098280" y="338328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2B5E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3.00</a:t>
            </a:r>
            <a:endParaRPr lang="en-US" sz="2800" dirty="0"/>
          </a:p>
        </p:txBody>
      </p:sp>
      <p:sp>
        <p:nvSpPr>
          <p:cNvPr id="38" name="Text 35"/>
          <p:cNvSpPr/>
          <p:nvPr/>
        </p:nvSpPr>
        <p:spPr>
          <a:xfrm>
            <a:off x="9098280" y="45262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DBDB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 SUB ]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365760" y="5806440"/>
            <a:ext cx="1143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8595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Source: [ source ]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466576" cy="36576"/>
          </a:xfrm>
          <a:prstGeom prst="rect">
            <a:avLst/>
          </a:prstGeom>
          <a:solidFill>
            <a:srgbClr val="42B5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2B5E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10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68680" y="1371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  //  BIG STAT — HERO NUMBER</a:t>
            </a:r>
            <a:endParaRPr lang="en-US" sz="900" dirty="0"/>
          </a:p>
        </p:txBody>
      </p:sp>
      <p:pic>
        <p:nvPicPr>
          <p:cNvPr id="5" name="Image 0" descr="/home/claude/mar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04285" y="164592"/>
            <a:ext cx="358811" cy="3291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411480"/>
            <a:ext cx="10881360" cy="0"/>
          </a:xfrm>
          <a:prstGeom prst="line">
            <a:avLst/>
          </a:prstGeom>
          <a:noFill/>
          <a:ln w="6350">
            <a:solidFill>
              <a:srgbClr val="1C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228600" y="228600"/>
            <a:ext cx="109728" cy="0"/>
          </a:xfrm>
          <a:prstGeom prst="line">
            <a:avLst/>
          </a:prstGeom>
          <a:noFill/>
          <a:ln w="6350">
            <a:solidFill>
              <a:srgbClr val="1E6F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228600" y="228600"/>
            <a:ext cx="0" cy="109728"/>
          </a:xfrm>
          <a:prstGeom prst="line">
            <a:avLst/>
          </a:prstGeom>
          <a:noFill/>
          <a:ln w="6350">
            <a:solidFill>
              <a:srgbClr val="1E6F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228600" y="6629400"/>
            <a:ext cx="109728" cy="0"/>
          </a:xfrm>
          <a:prstGeom prst="line">
            <a:avLst/>
          </a:prstGeom>
          <a:noFill/>
          <a:ln w="6350">
            <a:solidFill>
              <a:srgbClr val="1E6F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228600" y="6519672"/>
            <a:ext cx="0" cy="109728"/>
          </a:xfrm>
          <a:prstGeom prst="line">
            <a:avLst/>
          </a:prstGeom>
          <a:noFill/>
          <a:ln w="6350">
            <a:solidFill>
              <a:srgbClr val="1E6F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11853367" y="6629400"/>
            <a:ext cx="109728" cy="0"/>
          </a:xfrm>
          <a:prstGeom prst="line">
            <a:avLst/>
          </a:prstGeom>
          <a:noFill/>
          <a:ln w="6350">
            <a:solidFill>
              <a:srgbClr val="1E6F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11963095" y="6519672"/>
            <a:ext cx="0" cy="109728"/>
          </a:xfrm>
          <a:prstGeom prst="line">
            <a:avLst/>
          </a:prstGeom>
          <a:noFill/>
          <a:ln w="6350">
            <a:solidFill>
              <a:srgbClr val="1E6F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365760" y="6446520"/>
            <a:ext cx="11460175" cy="0"/>
          </a:xfrm>
          <a:prstGeom prst="line">
            <a:avLst/>
          </a:prstGeom>
          <a:noFill/>
          <a:ln w="6350">
            <a:solidFill>
              <a:srgbClr val="1C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365760" y="653796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8595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TAMID QUANT  //  NYU  //  TEMPLATE LIBRARY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11091672" y="653796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888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 / 24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365760" y="6400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 PAGE TITLE ]</a:t>
            </a:r>
            <a:endParaRPr lang="en-US" sz="3600" dirty="0"/>
          </a:p>
        </p:txBody>
      </p:sp>
      <p:sp>
        <p:nvSpPr>
          <p:cNvPr id="17" name="Shape 14"/>
          <p:cNvSpPr/>
          <p:nvPr/>
        </p:nvSpPr>
        <p:spPr>
          <a:xfrm>
            <a:off x="365760" y="1325880"/>
            <a:ext cx="3657600" cy="0"/>
          </a:xfrm>
          <a:prstGeom prst="line">
            <a:avLst/>
          </a:prstGeom>
          <a:noFill/>
          <a:ln w="19050">
            <a:solidFill>
              <a:srgbClr val="42B5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365760" y="237744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DBDB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 One sentence framing what this number represents. ]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365760" y="3200400"/>
            <a:ext cx="11430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0" b="1" dirty="0">
                <a:solidFill>
                  <a:srgbClr val="42B5E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+24.6%</a:t>
            </a:r>
            <a:endParaRPr lang="en-US" sz="14000" dirty="0"/>
          </a:p>
        </p:txBody>
      </p:sp>
      <p:sp>
        <p:nvSpPr>
          <p:cNvPr id="20" name="Shape 17"/>
          <p:cNvSpPr/>
          <p:nvPr/>
        </p:nvSpPr>
        <p:spPr>
          <a:xfrm>
            <a:off x="5029200" y="5349240"/>
            <a:ext cx="2103120" cy="0"/>
          </a:xfrm>
          <a:prstGeom prst="line">
            <a:avLst/>
          </a:prstGeom>
          <a:noFill/>
          <a:ln w="19050">
            <a:solidFill>
              <a:srgbClr val="42B5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365760" y="548640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 Caption explaining the number — context, period, source. ]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365760" y="5989320"/>
            <a:ext cx="1143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8595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Source: [ data source, period ]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466576" cy="36576"/>
          </a:xfrm>
          <a:prstGeom prst="rect">
            <a:avLst/>
          </a:prstGeom>
          <a:solidFill>
            <a:srgbClr val="42B5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2B5E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11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68680" y="1371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11  //  BULLET LIST</a:t>
            </a:r>
            <a:endParaRPr lang="en-US" sz="900" dirty="0"/>
          </a:p>
        </p:txBody>
      </p:sp>
      <p:pic>
        <p:nvPicPr>
          <p:cNvPr id="5" name="Image 0" descr="/home/claude/mar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04285" y="164592"/>
            <a:ext cx="358811" cy="3291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411480"/>
            <a:ext cx="10881360" cy="0"/>
          </a:xfrm>
          <a:prstGeom prst="line">
            <a:avLst/>
          </a:prstGeom>
          <a:noFill/>
          <a:ln w="6350">
            <a:solidFill>
              <a:srgbClr val="1C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228600" y="228600"/>
            <a:ext cx="109728" cy="0"/>
          </a:xfrm>
          <a:prstGeom prst="line">
            <a:avLst/>
          </a:prstGeom>
          <a:noFill/>
          <a:ln w="6350">
            <a:solidFill>
              <a:srgbClr val="1E6F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228600" y="228600"/>
            <a:ext cx="0" cy="109728"/>
          </a:xfrm>
          <a:prstGeom prst="line">
            <a:avLst/>
          </a:prstGeom>
          <a:noFill/>
          <a:ln w="6350">
            <a:solidFill>
              <a:srgbClr val="1E6F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228600" y="6629400"/>
            <a:ext cx="109728" cy="0"/>
          </a:xfrm>
          <a:prstGeom prst="line">
            <a:avLst/>
          </a:prstGeom>
          <a:noFill/>
          <a:ln w="6350">
            <a:solidFill>
              <a:srgbClr val="1E6F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228600" y="6519672"/>
            <a:ext cx="0" cy="109728"/>
          </a:xfrm>
          <a:prstGeom prst="line">
            <a:avLst/>
          </a:prstGeom>
          <a:noFill/>
          <a:ln w="6350">
            <a:solidFill>
              <a:srgbClr val="1E6F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11853367" y="6629400"/>
            <a:ext cx="109728" cy="0"/>
          </a:xfrm>
          <a:prstGeom prst="line">
            <a:avLst/>
          </a:prstGeom>
          <a:noFill/>
          <a:ln w="6350">
            <a:solidFill>
              <a:srgbClr val="1E6F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11963095" y="6519672"/>
            <a:ext cx="0" cy="109728"/>
          </a:xfrm>
          <a:prstGeom prst="line">
            <a:avLst/>
          </a:prstGeom>
          <a:noFill/>
          <a:ln w="6350">
            <a:solidFill>
              <a:srgbClr val="1E6F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365760" y="6446520"/>
            <a:ext cx="11460175" cy="0"/>
          </a:xfrm>
          <a:prstGeom prst="line">
            <a:avLst/>
          </a:prstGeom>
          <a:noFill/>
          <a:ln w="6350">
            <a:solidFill>
              <a:srgbClr val="1C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365760" y="653796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8595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TAMID QUANT  //  NYU  //  TEMPLATE LIBRARY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11091672" y="653796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888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11 / 24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365760" y="6400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 PAGE TITLE ]</a:t>
            </a:r>
            <a:endParaRPr lang="en-US" sz="3600" dirty="0"/>
          </a:p>
        </p:txBody>
      </p:sp>
      <p:sp>
        <p:nvSpPr>
          <p:cNvPr id="17" name="Shape 14"/>
          <p:cNvSpPr/>
          <p:nvPr/>
        </p:nvSpPr>
        <p:spPr>
          <a:xfrm>
            <a:off x="365760" y="1325880"/>
            <a:ext cx="3657600" cy="0"/>
          </a:xfrm>
          <a:prstGeom prst="line">
            <a:avLst/>
          </a:prstGeom>
          <a:noFill/>
          <a:ln w="19050">
            <a:solidFill>
              <a:srgbClr val="42B5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365760" y="237744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DBDB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 Optional lead paragraph. ]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365760" y="3273552"/>
            <a:ext cx="146304" cy="146304"/>
          </a:xfrm>
          <a:prstGeom prst="rect">
            <a:avLst/>
          </a:prstGeom>
          <a:solidFill>
            <a:srgbClr val="42B5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640080" y="31089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DBDB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 First key point — short, declarative, anchored. ]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365760" y="3822192"/>
            <a:ext cx="146304" cy="146304"/>
          </a:xfrm>
          <a:prstGeom prst="rect">
            <a:avLst/>
          </a:prstGeom>
          <a:solidFill>
            <a:srgbClr val="42B5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640080" y="36576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DBDB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 Second key point — short, declarative, anchored. ]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365760" y="4370832"/>
            <a:ext cx="146304" cy="146304"/>
          </a:xfrm>
          <a:prstGeom prst="rect">
            <a:avLst/>
          </a:prstGeom>
          <a:solidFill>
            <a:srgbClr val="42B5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640080" y="42062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DBDB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 Third key point — short, declarative, anchored. ]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365760" y="4919472"/>
            <a:ext cx="146304" cy="146304"/>
          </a:xfrm>
          <a:prstGeom prst="rect">
            <a:avLst/>
          </a:prstGeom>
          <a:solidFill>
            <a:srgbClr val="42B5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640080" y="4754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DBDB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 Fourth key point — short, declarative, anchored. ]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365760" y="5468112"/>
            <a:ext cx="146304" cy="146304"/>
          </a:xfrm>
          <a:prstGeom prst="rect">
            <a:avLst/>
          </a:prstGeom>
          <a:solidFill>
            <a:srgbClr val="42B5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640080" y="5303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DBDB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 Fifth key point — short, declarative, anchored. ]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466576" cy="36576"/>
          </a:xfrm>
          <a:prstGeom prst="rect">
            <a:avLst/>
          </a:prstGeom>
          <a:solidFill>
            <a:srgbClr val="42B5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2B5E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68680" y="1371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  //  TIMELINE / PROCESS FLOW</a:t>
            </a:r>
            <a:endParaRPr lang="en-US" sz="900" dirty="0"/>
          </a:p>
        </p:txBody>
      </p:sp>
      <p:pic>
        <p:nvPicPr>
          <p:cNvPr id="5" name="Image 0" descr="/home/claude/mar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04285" y="164592"/>
            <a:ext cx="358811" cy="3291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411480"/>
            <a:ext cx="10881360" cy="0"/>
          </a:xfrm>
          <a:prstGeom prst="line">
            <a:avLst/>
          </a:prstGeom>
          <a:noFill/>
          <a:ln w="6350">
            <a:solidFill>
              <a:srgbClr val="1C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228600" y="228600"/>
            <a:ext cx="109728" cy="0"/>
          </a:xfrm>
          <a:prstGeom prst="line">
            <a:avLst/>
          </a:prstGeom>
          <a:noFill/>
          <a:ln w="6350">
            <a:solidFill>
              <a:srgbClr val="1E6F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228600" y="228600"/>
            <a:ext cx="0" cy="109728"/>
          </a:xfrm>
          <a:prstGeom prst="line">
            <a:avLst/>
          </a:prstGeom>
          <a:noFill/>
          <a:ln w="6350">
            <a:solidFill>
              <a:srgbClr val="1E6F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228600" y="6629400"/>
            <a:ext cx="109728" cy="0"/>
          </a:xfrm>
          <a:prstGeom prst="line">
            <a:avLst/>
          </a:prstGeom>
          <a:noFill/>
          <a:ln w="6350">
            <a:solidFill>
              <a:srgbClr val="1E6F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228600" y="6519672"/>
            <a:ext cx="0" cy="109728"/>
          </a:xfrm>
          <a:prstGeom prst="line">
            <a:avLst/>
          </a:prstGeom>
          <a:noFill/>
          <a:ln w="6350">
            <a:solidFill>
              <a:srgbClr val="1E6F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11853367" y="6629400"/>
            <a:ext cx="109728" cy="0"/>
          </a:xfrm>
          <a:prstGeom prst="line">
            <a:avLst/>
          </a:prstGeom>
          <a:noFill/>
          <a:ln w="6350">
            <a:solidFill>
              <a:srgbClr val="1E6F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11963095" y="6519672"/>
            <a:ext cx="0" cy="109728"/>
          </a:xfrm>
          <a:prstGeom prst="line">
            <a:avLst/>
          </a:prstGeom>
          <a:noFill/>
          <a:ln w="6350">
            <a:solidFill>
              <a:srgbClr val="1E6F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365760" y="6446520"/>
            <a:ext cx="11460175" cy="0"/>
          </a:xfrm>
          <a:prstGeom prst="line">
            <a:avLst/>
          </a:prstGeom>
          <a:noFill/>
          <a:ln w="6350">
            <a:solidFill>
              <a:srgbClr val="1C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365760" y="653796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8595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TAMID QUANT  //  NYU  //  TEMPLATE LIBRARY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11091672" y="653796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888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 / 24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365760" y="6400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 PAGE TITLE ]</a:t>
            </a:r>
            <a:endParaRPr lang="en-US" sz="3600" dirty="0"/>
          </a:p>
        </p:txBody>
      </p:sp>
      <p:sp>
        <p:nvSpPr>
          <p:cNvPr id="17" name="Shape 14"/>
          <p:cNvSpPr/>
          <p:nvPr/>
        </p:nvSpPr>
        <p:spPr>
          <a:xfrm>
            <a:off x="365760" y="1325880"/>
            <a:ext cx="3657600" cy="0"/>
          </a:xfrm>
          <a:prstGeom prst="line">
            <a:avLst/>
          </a:prstGeom>
          <a:noFill/>
          <a:ln w="19050">
            <a:solidFill>
              <a:srgbClr val="42B5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365760" y="237744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DBDB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 Optional intro line describing the sequence. ]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731520" y="3657600"/>
            <a:ext cx="10728655" cy="0"/>
          </a:xfrm>
          <a:prstGeom prst="line">
            <a:avLst/>
          </a:prstGeom>
          <a:noFill/>
          <a:ln w="12700">
            <a:solidFill>
              <a:srgbClr val="1E6F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1432522" y="3291840"/>
            <a:ext cx="731520" cy="731520"/>
          </a:xfrm>
          <a:prstGeom prst="ellipse">
            <a:avLst/>
          </a:prstGeom>
          <a:solidFill>
            <a:srgbClr val="080808"/>
          </a:solidFill>
          <a:ln w="19050">
            <a:solidFill>
              <a:srgbClr val="42B5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1432522" y="3291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2B5E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548640" y="4206240"/>
            <a:ext cx="24992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 STEP ONE ]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48640" y="4617720"/>
            <a:ext cx="24992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BDBDB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 Brief description ]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4297566" y="3291840"/>
            <a:ext cx="731520" cy="731520"/>
          </a:xfrm>
          <a:prstGeom prst="ellipse">
            <a:avLst/>
          </a:prstGeom>
          <a:solidFill>
            <a:srgbClr val="080808"/>
          </a:solidFill>
          <a:ln w="19050">
            <a:solidFill>
              <a:srgbClr val="42B5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4297566" y="3291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2B5E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3413684" y="4206240"/>
            <a:ext cx="24992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 STEP TWO ]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3413684" y="4617720"/>
            <a:ext cx="24992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BDBDB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 Brief description ]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7162609" y="3291840"/>
            <a:ext cx="731520" cy="731520"/>
          </a:xfrm>
          <a:prstGeom prst="ellipse">
            <a:avLst/>
          </a:prstGeom>
          <a:solidFill>
            <a:srgbClr val="080808"/>
          </a:solidFill>
          <a:ln w="19050">
            <a:solidFill>
              <a:srgbClr val="42B5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7162609" y="3291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2B5E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6278728" y="4206240"/>
            <a:ext cx="24992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 STEP THREE ]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6278728" y="4617720"/>
            <a:ext cx="24992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BDBDB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 Brief description ]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10027653" y="3291840"/>
            <a:ext cx="731520" cy="731520"/>
          </a:xfrm>
          <a:prstGeom prst="ellipse">
            <a:avLst/>
          </a:prstGeom>
          <a:solidFill>
            <a:srgbClr val="080808"/>
          </a:solidFill>
          <a:ln w="19050">
            <a:solidFill>
              <a:srgbClr val="42B5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10027653" y="3291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2B5E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9143771" y="4206240"/>
            <a:ext cx="24992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 STEP FOUR ]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9143771" y="4617720"/>
            <a:ext cx="24992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BDBDB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 Brief description ]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466576" cy="36576"/>
          </a:xfrm>
          <a:prstGeom prst="rect">
            <a:avLst/>
          </a:prstGeom>
          <a:solidFill>
            <a:srgbClr val="42B5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2B5E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13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68680" y="1371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13  //  CHART — LINE / PERFORMANCE</a:t>
            </a:r>
            <a:endParaRPr lang="en-US" sz="900" dirty="0"/>
          </a:p>
        </p:txBody>
      </p:sp>
      <p:pic>
        <p:nvPicPr>
          <p:cNvPr id="5" name="Image 0" descr="/home/claude/mar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04285" y="164592"/>
            <a:ext cx="358811" cy="3291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411480"/>
            <a:ext cx="10881360" cy="0"/>
          </a:xfrm>
          <a:prstGeom prst="line">
            <a:avLst/>
          </a:prstGeom>
          <a:noFill/>
          <a:ln w="6350">
            <a:solidFill>
              <a:srgbClr val="1C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228600" y="228600"/>
            <a:ext cx="109728" cy="0"/>
          </a:xfrm>
          <a:prstGeom prst="line">
            <a:avLst/>
          </a:prstGeom>
          <a:noFill/>
          <a:ln w="6350">
            <a:solidFill>
              <a:srgbClr val="1E6F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228600" y="228600"/>
            <a:ext cx="0" cy="109728"/>
          </a:xfrm>
          <a:prstGeom prst="line">
            <a:avLst/>
          </a:prstGeom>
          <a:noFill/>
          <a:ln w="6350">
            <a:solidFill>
              <a:srgbClr val="1E6F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228600" y="6629400"/>
            <a:ext cx="109728" cy="0"/>
          </a:xfrm>
          <a:prstGeom prst="line">
            <a:avLst/>
          </a:prstGeom>
          <a:noFill/>
          <a:ln w="6350">
            <a:solidFill>
              <a:srgbClr val="1E6F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228600" y="6519672"/>
            <a:ext cx="0" cy="109728"/>
          </a:xfrm>
          <a:prstGeom prst="line">
            <a:avLst/>
          </a:prstGeom>
          <a:noFill/>
          <a:ln w="6350">
            <a:solidFill>
              <a:srgbClr val="1E6F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11853367" y="6629400"/>
            <a:ext cx="109728" cy="0"/>
          </a:xfrm>
          <a:prstGeom prst="line">
            <a:avLst/>
          </a:prstGeom>
          <a:noFill/>
          <a:ln w="6350">
            <a:solidFill>
              <a:srgbClr val="1E6F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11963095" y="6519672"/>
            <a:ext cx="0" cy="109728"/>
          </a:xfrm>
          <a:prstGeom prst="line">
            <a:avLst/>
          </a:prstGeom>
          <a:noFill/>
          <a:ln w="6350">
            <a:solidFill>
              <a:srgbClr val="1E6F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365760" y="6446520"/>
            <a:ext cx="11460175" cy="0"/>
          </a:xfrm>
          <a:prstGeom prst="line">
            <a:avLst/>
          </a:prstGeom>
          <a:noFill/>
          <a:ln w="6350">
            <a:solidFill>
              <a:srgbClr val="1C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365760" y="653796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8595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TAMID QUANT  //  NYU  //  TEMPLATE LIBRARY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11091672" y="653796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888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13 / 24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365760" y="6400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 CHART</a:t>
            </a:r>
            <a:endParaRPr lang="en-US" sz="3600" dirty="0"/>
          </a:p>
        </p:txBody>
      </p:sp>
      <p:sp>
        <p:nvSpPr>
          <p:cNvPr id="17" name="Text 14"/>
          <p:cNvSpPr/>
          <p:nvPr/>
        </p:nvSpPr>
        <p:spPr>
          <a:xfrm>
            <a:off x="365760" y="129844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42B5E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TITLE ]</a:t>
            </a:r>
            <a:endParaRPr lang="en-US" sz="3600" dirty="0"/>
          </a:p>
        </p:txBody>
      </p:sp>
      <p:sp>
        <p:nvSpPr>
          <p:cNvPr id="18" name="Shape 15"/>
          <p:cNvSpPr/>
          <p:nvPr/>
        </p:nvSpPr>
        <p:spPr>
          <a:xfrm>
            <a:off x="365760" y="1993392"/>
            <a:ext cx="3657600" cy="0"/>
          </a:xfrm>
          <a:prstGeom prst="line">
            <a:avLst/>
          </a:prstGeom>
          <a:noFill/>
          <a:ln w="19050">
            <a:solidFill>
              <a:srgbClr val="42B5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365760" y="233172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DBDB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 One-line description of what the chart shows. ]</a:t>
            </a:r>
            <a:endParaRPr lang="en-US" sz="1200" dirty="0"/>
          </a:p>
        </p:txBody>
      </p:sp>
      <p:graphicFrame>
        <p:nvGraphicFramePr>
          <p:cNvPr id="20" name="Chart 0"/>
          <p:cNvGraphicFramePr/>
          <p:nvPr/>
        </p:nvGraphicFramePr>
        <p:xfrm>
          <a:off x="365760" y="2743200"/>
          <a:ext cx="1143000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1" name="Text 17"/>
          <p:cNvSpPr/>
          <p:nvPr/>
        </p:nvSpPr>
        <p:spPr>
          <a:xfrm>
            <a:off x="365760" y="5989320"/>
            <a:ext cx="1143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8595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Source: [ data source, period, methodology notes ]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466576" cy="36576"/>
          </a:xfrm>
          <a:prstGeom prst="rect">
            <a:avLst/>
          </a:prstGeom>
          <a:solidFill>
            <a:srgbClr val="42B5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2B5E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14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68680" y="1371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14  //  CHART — BAR / COMPARISON</a:t>
            </a:r>
            <a:endParaRPr lang="en-US" sz="900" dirty="0"/>
          </a:p>
        </p:txBody>
      </p:sp>
      <p:pic>
        <p:nvPicPr>
          <p:cNvPr id="5" name="Image 0" descr="/home/claude/mar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04285" y="164592"/>
            <a:ext cx="358811" cy="3291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411480"/>
            <a:ext cx="10881360" cy="0"/>
          </a:xfrm>
          <a:prstGeom prst="line">
            <a:avLst/>
          </a:prstGeom>
          <a:noFill/>
          <a:ln w="6350">
            <a:solidFill>
              <a:srgbClr val="1C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228600" y="228600"/>
            <a:ext cx="109728" cy="0"/>
          </a:xfrm>
          <a:prstGeom prst="line">
            <a:avLst/>
          </a:prstGeom>
          <a:noFill/>
          <a:ln w="6350">
            <a:solidFill>
              <a:srgbClr val="1E6F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228600" y="228600"/>
            <a:ext cx="0" cy="109728"/>
          </a:xfrm>
          <a:prstGeom prst="line">
            <a:avLst/>
          </a:prstGeom>
          <a:noFill/>
          <a:ln w="6350">
            <a:solidFill>
              <a:srgbClr val="1E6F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228600" y="6629400"/>
            <a:ext cx="109728" cy="0"/>
          </a:xfrm>
          <a:prstGeom prst="line">
            <a:avLst/>
          </a:prstGeom>
          <a:noFill/>
          <a:ln w="6350">
            <a:solidFill>
              <a:srgbClr val="1E6F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228600" y="6519672"/>
            <a:ext cx="0" cy="109728"/>
          </a:xfrm>
          <a:prstGeom prst="line">
            <a:avLst/>
          </a:prstGeom>
          <a:noFill/>
          <a:ln w="6350">
            <a:solidFill>
              <a:srgbClr val="1E6F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11853367" y="6629400"/>
            <a:ext cx="109728" cy="0"/>
          </a:xfrm>
          <a:prstGeom prst="line">
            <a:avLst/>
          </a:prstGeom>
          <a:noFill/>
          <a:ln w="6350">
            <a:solidFill>
              <a:srgbClr val="1E6F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11963095" y="6519672"/>
            <a:ext cx="0" cy="109728"/>
          </a:xfrm>
          <a:prstGeom prst="line">
            <a:avLst/>
          </a:prstGeom>
          <a:noFill/>
          <a:ln w="6350">
            <a:solidFill>
              <a:srgbClr val="1E6F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365760" y="6446520"/>
            <a:ext cx="11460175" cy="0"/>
          </a:xfrm>
          <a:prstGeom prst="line">
            <a:avLst/>
          </a:prstGeom>
          <a:noFill/>
          <a:ln w="6350">
            <a:solidFill>
              <a:srgbClr val="1C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365760" y="653796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8595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TAMID QUANT  //  NYU  //  TEMPLATE LIBRARY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11091672" y="653796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888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14 / 24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365760" y="6400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 CHART TITLE ]</a:t>
            </a:r>
            <a:endParaRPr lang="en-US" sz="3600" dirty="0"/>
          </a:p>
        </p:txBody>
      </p:sp>
      <p:sp>
        <p:nvSpPr>
          <p:cNvPr id="17" name="Shape 14"/>
          <p:cNvSpPr/>
          <p:nvPr/>
        </p:nvSpPr>
        <p:spPr>
          <a:xfrm>
            <a:off x="365760" y="1325880"/>
            <a:ext cx="3657600" cy="0"/>
          </a:xfrm>
          <a:prstGeom prst="line">
            <a:avLst/>
          </a:prstGeom>
          <a:noFill/>
          <a:ln w="19050">
            <a:solidFill>
              <a:srgbClr val="42B5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365760" y="233172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DBDB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 One-line description of what the chart shows. ]</a:t>
            </a:r>
            <a:endParaRPr lang="en-US" sz="1200" dirty="0"/>
          </a:p>
        </p:txBody>
      </p:sp>
      <p:graphicFrame>
        <p:nvGraphicFramePr>
          <p:cNvPr id="19" name="Chart 0"/>
          <p:cNvGraphicFramePr/>
          <p:nvPr/>
        </p:nvGraphicFramePr>
        <p:xfrm>
          <a:off x="365760" y="2743200"/>
          <a:ext cx="1143000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0" name="Text 16"/>
          <p:cNvSpPr/>
          <p:nvPr/>
        </p:nvSpPr>
        <p:spPr>
          <a:xfrm>
            <a:off x="365760" y="5989320"/>
            <a:ext cx="1143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8595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Source: [ data source ]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466576" cy="36576"/>
          </a:xfrm>
          <a:prstGeom prst="rect">
            <a:avLst/>
          </a:prstGeom>
          <a:solidFill>
            <a:srgbClr val="42B5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2B5E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15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68680" y="1371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15  //  DATA TABLE</a:t>
            </a:r>
            <a:endParaRPr lang="en-US" sz="900" dirty="0"/>
          </a:p>
        </p:txBody>
      </p:sp>
      <p:pic>
        <p:nvPicPr>
          <p:cNvPr id="5" name="Image 0" descr="/home/claude/mar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04285" y="164592"/>
            <a:ext cx="358811" cy="3291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411480"/>
            <a:ext cx="10881360" cy="0"/>
          </a:xfrm>
          <a:prstGeom prst="line">
            <a:avLst/>
          </a:prstGeom>
          <a:noFill/>
          <a:ln w="6350">
            <a:solidFill>
              <a:srgbClr val="1C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228600" y="228600"/>
            <a:ext cx="109728" cy="0"/>
          </a:xfrm>
          <a:prstGeom prst="line">
            <a:avLst/>
          </a:prstGeom>
          <a:noFill/>
          <a:ln w="6350">
            <a:solidFill>
              <a:srgbClr val="1E6F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228600" y="228600"/>
            <a:ext cx="0" cy="109728"/>
          </a:xfrm>
          <a:prstGeom prst="line">
            <a:avLst/>
          </a:prstGeom>
          <a:noFill/>
          <a:ln w="6350">
            <a:solidFill>
              <a:srgbClr val="1E6F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228600" y="6629400"/>
            <a:ext cx="109728" cy="0"/>
          </a:xfrm>
          <a:prstGeom prst="line">
            <a:avLst/>
          </a:prstGeom>
          <a:noFill/>
          <a:ln w="6350">
            <a:solidFill>
              <a:srgbClr val="1E6F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228600" y="6519672"/>
            <a:ext cx="0" cy="109728"/>
          </a:xfrm>
          <a:prstGeom prst="line">
            <a:avLst/>
          </a:prstGeom>
          <a:noFill/>
          <a:ln w="6350">
            <a:solidFill>
              <a:srgbClr val="1E6F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11853367" y="6629400"/>
            <a:ext cx="109728" cy="0"/>
          </a:xfrm>
          <a:prstGeom prst="line">
            <a:avLst/>
          </a:prstGeom>
          <a:noFill/>
          <a:ln w="6350">
            <a:solidFill>
              <a:srgbClr val="1E6F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11963095" y="6519672"/>
            <a:ext cx="0" cy="109728"/>
          </a:xfrm>
          <a:prstGeom prst="line">
            <a:avLst/>
          </a:prstGeom>
          <a:noFill/>
          <a:ln w="6350">
            <a:solidFill>
              <a:srgbClr val="1E6F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365760" y="6446520"/>
            <a:ext cx="11460175" cy="0"/>
          </a:xfrm>
          <a:prstGeom prst="line">
            <a:avLst/>
          </a:prstGeom>
          <a:noFill/>
          <a:ln w="6350">
            <a:solidFill>
              <a:srgbClr val="1C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365760" y="653796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8595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TAMID QUANT  //  NYU  //  TEMPLATE LIBRARY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11091672" y="653796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888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15 / 24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365760" y="6400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 TABLE TITLE ]</a:t>
            </a:r>
            <a:endParaRPr lang="en-US" sz="3600" dirty="0"/>
          </a:p>
        </p:txBody>
      </p:sp>
      <p:sp>
        <p:nvSpPr>
          <p:cNvPr id="17" name="Shape 14"/>
          <p:cNvSpPr/>
          <p:nvPr/>
        </p:nvSpPr>
        <p:spPr>
          <a:xfrm>
            <a:off x="365760" y="1325880"/>
            <a:ext cx="3657600" cy="0"/>
          </a:xfrm>
          <a:prstGeom prst="line">
            <a:avLst/>
          </a:prstGeom>
          <a:noFill/>
          <a:ln w="19050">
            <a:solidFill>
              <a:srgbClr val="42B5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365760" y="233172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DBDB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 Optional caption. ]</a:t>
            </a:r>
            <a:endParaRPr lang="en-US" sz="12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743200"/>
          <a:ext cx="11430000" cy="91440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42B5E8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[ COL 1 ]</a:t>
                      </a:r>
                      <a:endParaRPr lang="en-US" sz="10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6F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42B5E8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[ COL 2 ]</a:t>
                      </a:r>
                      <a:endParaRPr lang="en-US" sz="10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6F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42B5E8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[ COL 3 ]</a:t>
                      </a:r>
                      <a:endParaRPr lang="en-US" sz="10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6F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42B5E8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[ COL 4 ]</a:t>
                      </a:r>
                      <a:endParaRPr lang="en-US" sz="10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6F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42B5E8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[ COL 5 ]</a:t>
                      </a:r>
                      <a:endParaRPr lang="en-US" sz="10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6F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42B5E8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[ COL 6 ]</a:t>
                      </a:r>
                      <a:endParaRPr lang="en-US" sz="10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6F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0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[ ROW 1 ]</a:t>
                      </a:r>
                      <a:endParaRPr lang="en-US" sz="10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6F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[ ITEM ]</a:t>
                      </a:r>
                      <a:endParaRPr lang="en-US" sz="10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6F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[ # ]</a:t>
                      </a:r>
                      <a:endParaRPr lang="en-US" sz="10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6F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[ # ]</a:t>
                      </a:r>
                      <a:endParaRPr lang="en-US" sz="10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6F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2ECC71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[ + ]</a:t>
                      </a:r>
                      <a:endParaRPr lang="en-US" sz="10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6F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2ECC71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[ + ]</a:t>
                      </a:r>
                      <a:endParaRPr lang="en-US" sz="10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6F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[ ROW 2 ]</a:t>
                      </a:r>
                      <a:endParaRPr lang="en-US" sz="10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[ ITEM ]</a:t>
                      </a:r>
                      <a:endParaRPr lang="en-US" sz="10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[ # ]</a:t>
                      </a:r>
                      <a:endParaRPr lang="en-US" sz="10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[ # ]</a:t>
                      </a:r>
                      <a:endParaRPr lang="en-US" sz="10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2ECC71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[ + ]</a:t>
                      </a:r>
                      <a:endParaRPr lang="en-US" sz="10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E74C3C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[ - ]</a:t>
                      </a:r>
                      <a:endParaRPr lang="en-US" sz="10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[ ROW 3 ]</a:t>
                      </a:r>
                      <a:endParaRPr lang="en-US" sz="10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[ ITEM ]</a:t>
                      </a:r>
                      <a:endParaRPr lang="en-US" sz="10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[ # ]</a:t>
                      </a:r>
                      <a:endParaRPr lang="en-US" sz="10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[ # ]</a:t>
                      </a:r>
                      <a:endParaRPr lang="en-US" sz="10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2ECC71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[ + ]</a:t>
                      </a:r>
                      <a:endParaRPr lang="en-US" sz="10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E74C3C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[ - ]</a:t>
                      </a:r>
                      <a:endParaRPr lang="en-US" sz="10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[ ROW 4 ]</a:t>
                      </a:r>
                      <a:endParaRPr lang="en-US" sz="10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[ ITEM ]</a:t>
                      </a:r>
                      <a:endParaRPr lang="en-US" sz="10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[ # ]</a:t>
                      </a:r>
                      <a:endParaRPr lang="en-US" sz="10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[ # ]</a:t>
                      </a:r>
                      <a:endParaRPr lang="en-US" sz="10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E74C3C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[ - ]</a:t>
                      </a:r>
                      <a:endParaRPr lang="en-US" sz="10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2ECC71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[ + ]</a:t>
                      </a:r>
                      <a:endParaRPr lang="en-US" sz="10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[ ROW 5 ]</a:t>
                      </a:r>
                      <a:endParaRPr lang="en-US" sz="10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[ ITEM ]</a:t>
                      </a:r>
                      <a:endParaRPr lang="en-US" sz="10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[ # ]</a:t>
                      </a:r>
                      <a:endParaRPr lang="en-US" sz="10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[ # ]</a:t>
                      </a:r>
                      <a:endParaRPr lang="en-US" sz="10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E74C3C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[ - ]</a:t>
                      </a:r>
                      <a:endParaRPr lang="en-US" sz="10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E74C3C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[ - ]</a:t>
                      </a:r>
                      <a:endParaRPr lang="en-US" sz="10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[ TOTAL ]</a:t>
                      </a:r>
                      <a:endParaRPr lang="en-US" sz="10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—</a:t>
                      </a:r>
                      <a:endParaRPr lang="en-US" sz="10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[ # ]</a:t>
                      </a:r>
                      <a:endParaRPr lang="en-US" sz="10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—</a:t>
                      </a:r>
                      <a:endParaRPr lang="en-US" sz="10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—</a:t>
                      </a:r>
                      <a:endParaRPr lang="en-US" sz="10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—</a:t>
                      </a:r>
                      <a:endParaRPr lang="en-US" sz="10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0" name="Text 16"/>
          <p:cNvSpPr/>
          <p:nvPr/>
        </p:nvSpPr>
        <p:spPr>
          <a:xfrm>
            <a:off x="365760" y="5943600"/>
            <a:ext cx="1143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8595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Source: [ source ]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466576" cy="36576"/>
          </a:xfrm>
          <a:prstGeom prst="rect">
            <a:avLst/>
          </a:prstGeom>
          <a:solidFill>
            <a:srgbClr val="42B5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2B5E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16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68680" y="1371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  //  CHART — DUAL</a:t>
            </a:r>
            <a:endParaRPr lang="en-US" sz="900" dirty="0"/>
          </a:p>
        </p:txBody>
      </p:sp>
      <p:pic>
        <p:nvPicPr>
          <p:cNvPr id="5" name="Image 0" descr="/home/claude/mar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04285" y="164592"/>
            <a:ext cx="358811" cy="3291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411480"/>
            <a:ext cx="10881360" cy="0"/>
          </a:xfrm>
          <a:prstGeom prst="line">
            <a:avLst/>
          </a:prstGeom>
          <a:noFill/>
          <a:ln w="6350">
            <a:solidFill>
              <a:srgbClr val="1C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228600" y="228600"/>
            <a:ext cx="109728" cy="0"/>
          </a:xfrm>
          <a:prstGeom prst="line">
            <a:avLst/>
          </a:prstGeom>
          <a:noFill/>
          <a:ln w="6350">
            <a:solidFill>
              <a:srgbClr val="1E6F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228600" y="228600"/>
            <a:ext cx="0" cy="109728"/>
          </a:xfrm>
          <a:prstGeom prst="line">
            <a:avLst/>
          </a:prstGeom>
          <a:noFill/>
          <a:ln w="6350">
            <a:solidFill>
              <a:srgbClr val="1E6F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228600" y="6629400"/>
            <a:ext cx="109728" cy="0"/>
          </a:xfrm>
          <a:prstGeom prst="line">
            <a:avLst/>
          </a:prstGeom>
          <a:noFill/>
          <a:ln w="6350">
            <a:solidFill>
              <a:srgbClr val="1E6F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228600" y="6519672"/>
            <a:ext cx="0" cy="109728"/>
          </a:xfrm>
          <a:prstGeom prst="line">
            <a:avLst/>
          </a:prstGeom>
          <a:noFill/>
          <a:ln w="6350">
            <a:solidFill>
              <a:srgbClr val="1E6F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11853367" y="6629400"/>
            <a:ext cx="109728" cy="0"/>
          </a:xfrm>
          <a:prstGeom prst="line">
            <a:avLst/>
          </a:prstGeom>
          <a:noFill/>
          <a:ln w="6350">
            <a:solidFill>
              <a:srgbClr val="1E6F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11963095" y="6519672"/>
            <a:ext cx="0" cy="109728"/>
          </a:xfrm>
          <a:prstGeom prst="line">
            <a:avLst/>
          </a:prstGeom>
          <a:noFill/>
          <a:ln w="6350">
            <a:solidFill>
              <a:srgbClr val="1E6F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365760" y="6446520"/>
            <a:ext cx="11460175" cy="0"/>
          </a:xfrm>
          <a:prstGeom prst="line">
            <a:avLst/>
          </a:prstGeom>
          <a:noFill/>
          <a:ln w="6350">
            <a:solidFill>
              <a:srgbClr val="1C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365760" y="653796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8595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TAMID QUANT  //  NYU  //  TEMPLATE LIBRARY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11091672" y="653796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888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 / 24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365760" y="6400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 CHART TITLE ]</a:t>
            </a:r>
            <a:endParaRPr lang="en-US" sz="3600" dirty="0"/>
          </a:p>
        </p:txBody>
      </p:sp>
      <p:sp>
        <p:nvSpPr>
          <p:cNvPr id="17" name="Shape 14"/>
          <p:cNvSpPr/>
          <p:nvPr/>
        </p:nvSpPr>
        <p:spPr>
          <a:xfrm>
            <a:off x="365760" y="1325880"/>
            <a:ext cx="3657600" cy="0"/>
          </a:xfrm>
          <a:prstGeom prst="line">
            <a:avLst/>
          </a:prstGeom>
          <a:noFill/>
          <a:ln w="19050">
            <a:solidFill>
              <a:srgbClr val="42B5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365760" y="233172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DBDB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 Optional caption. ]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365760" y="274320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2B5E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 CHART ONE LABEL ]</a:t>
            </a:r>
            <a:endParaRPr lang="en-US" sz="1000" dirty="0"/>
          </a:p>
        </p:txBody>
      </p:sp>
      <p:graphicFrame>
        <p:nvGraphicFramePr>
          <p:cNvPr id="20" name="Chart 0"/>
          <p:cNvGraphicFramePr/>
          <p:nvPr/>
        </p:nvGraphicFramePr>
        <p:xfrm>
          <a:off x="365760" y="3017520"/>
          <a:ext cx="557784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1" name="Text 17"/>
          <p:cNvSpPr/>
          <p:nvPr/>
        </p:nvSpPr>
        <p:spPr>
          <a:xfrm>
            <a:off x="6263640" y="274320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2B5E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 CHART TWO LABEL ]</a:t>
            </a:r>
            <a:endParaRPr lang="en-US" sz="1000" dirty="0"/>
          </a:p>
        </p:txBody>
      </p:sp>
      <p:graphicFrame>
        <p:nvGraphicFramePr>
          <p:cNvPr id="22" name="Chart 1"/>
          <p:cNvGraphicFramePr/>
          <p:nvPr/>
        </p:nvGraphicFramePr>
        <p:xfrm>
          <a:off x="6263640" y="3017520"/>
          <a:ext cx="557784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3" name="Text 18"/>
          <p:cNvSpPr/>
          <p:nvPr/>
        </p:nvSpPr>
        <p:spPr>
          <a:xfrm>
            <a:off x="365760" y="5943600"/>
            <a:ext cx="1143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8595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Source: [ source ]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466576" cy="36576"/>
          </a:xfrm>
          <a:prstGeom prst="rect">
            <a:avLst/>
          </a:prstGeom>
          <a:solidFill>
            <a:srgbClr val="42B5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2B5E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17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68680" y="1371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17  //  RESEARCH MEMO HEADER</a:t>
            </a:r>
            <a:endParaRPr lang="en-US" sz="900" dirty="0"/>
          </a:p>
        </p:txBody>
      </p:sp>
      <p:pic>
        <p:nvPicPr>
          <p:cNvPr id="5" name="Image 0" descr="/home/claude/mar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04285" y="164592"/>
            <a:ext cx="358811" cy="3291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411480"/>
            <a:ext cx="10881360" cy="0"/>
          </a:xfrm>
          <a:prstGeom prst="line">
            <a:avLst/>
          </a:prstGeom>
          <a:noFill/>
          <a:ln w="6350">
            <a:solidFill>
              <a:srgbClr val="1C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228600" y="228600"/>
            <a:ext cx="109728" cy="0"/>
          </a:xfrm>
          <a:prstGeom prst="line">
            <a:avLst/>
          </a:prstGeom>
          <a:noFill/>
          <a:ln w="6350">
            <a:solidFill>
              <a:srgbClr val="1E6F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228600" y="228600"/>
            <a:ext cx="0" cy="109728"/>
          </a:xfrm>
          <a:prstGeom prst="line">
            <a:avLst/>
          </a:prstGeom>
          <a:noFill/>
          <a:ln w="6350">
            <a:solidFill>
              <a:srgbClr val="1E6F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228600" y="6629400"/>
            <a:ext cx="109728" cy="0"/>
          </a:xfrm>
          <a:prstGeom prst="line">
            <a:avLst/>
          </a:prstGeom>
          <a:noFill/>
          <a:ln w="6350">
            <a:solidFill>
              <a:srgbClr val="1E6F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228600" y="6519672"/>
            <a:ext cx="0" cy="109728"/>
          </a:xfrm>
          <a:prstGeom prst="line">
            <a:avLst/>
          </a:prstGeom>
          <a:noFill/>
          <a:ln w="6350">
            <a:solidFill>
              <a:srgbClr val="1E6F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11853367" y="6629400"/>
            <a:ext cx="109728" cy="0"/>
          </a:xfrm>
          <a:prstGeom prst="line">
            <a:avLst/>
          </a:prstGeom>
          <a:noFill/>
          <a:ln w="6350">
            <a:solidFill>
              <a:srgbClr val="1E6F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11963095" y="6519672"/>
            <a:ext cx="0" cy="109728"/>
          </a:xfrm>
          <a:prstGeom prst="line">
            <a:avLst/>
          </a:prstGeom>
          <a:noFill/>
          <a:ln w="6350">
            <a:solidFill>
              <a:srgbClr val="1E6F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365760" y="6446520"/>
            <a:ext cx="11460175" cy="0"/>
          </a:xfrm>
          <a:prstGeom prst="line">
            <a:avLst/>
          </a:prstGeom>
          <a:noFill/>
          <a:ln w="6350">
            <a:solidFill>
              <a:srgbClr val="1C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365760" y="653796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8595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TAMID QUANT  //  NYU  //  TEMPLATE LIBRARY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11091672" y="653796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888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17 / 24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365760" y="6400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 MEMO SUBJECT ]</a:t>
            </a:r>
            <a:endParaRPr lang="en-US" sz="3600" dirty="0"/>
          </a:p>
        </p:txBody>
      </p:sp>
      <p:sp>
        <p:nvSpPr>
          <p:cNvPr id="17" name="Shape 14"/>
          <p:cNvSpPr/>
          <p:nvPr/>
        </p:nvSpPr>
        <p:spPr>
          <a:xfrm>
            <a:off x="365760" y="1325880"/>
            <a:ext cx="3657600" cy="0"/>
          </a:xfrm>
          <a:prstGeom prst="line">
            <a:avLst/>
          </a:prstGeom>
          <a:noFill/>
          <a:ln w="19050">
            <a:solidFill>
              <a:srgbClr val="42B5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365760" y="2377440"/>
            <a:ext cx="11430000" cy="1463040"/>
          </a:xfrm>
          <a:prstGeom prst="rect">
            <a:avLst/>
          </a:prstGeom>
          <a:solidFill>
            <a:srgbClr val="0F0F0F"/>
          </a:solidFill>
          <a:ln w="6350">
            <a:solidFill>
              <a:srgbClr val="1E6F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1554480" y="2468880"/>
            <a:ext cx="0" cy="1280160"/>
          </a:xfrm>
          <a:prstGeom prst="line">
            <a:avLst/>
          </a:prstGeom>
          <a:noFill/>
          <a:ln w="6350">
            <a:solidFill>
              <a:srgbClr val="1A3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502920" y="2542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DATE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691640" y="2542032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2B5E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 YYYY-MM-DD ]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502920" y="278892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TICKER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691640" y="2788920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2B5E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 XXXX US EQUITY ]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502920" y="30358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ANALYST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691640" y="3035808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2B5E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 NAME // TRACK ]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502920" y="328269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SUBJECT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691640" y="3282696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 MEMO SUBJECT IN ALL CAPS ]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502920" y="352958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CONFIDENCE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691640" y="3529584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 HIGH/MEDIUM/LOW // BASIS ]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365760" y="411480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2B5E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THESIS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365760" y="4480560"/>
            <a:ext cx="11430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DBDB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 One-paragraph thesis. State the call, the conviction, the time horizon. No setup, no hedging. ]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466576" cy="36576"/>
          </a:xfrm>
          <a:prstGeom prst="rect">
            <a:avLst/>
          </a:prstGeom>
          <a:solidFill>
            <a:srgbClr val="42B5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2B5E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18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68680" y="1371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18  //  DO / DON'T COMPARISON</a:t>
            </a:r>
            <a:endParaRPr lang="en-US" sz="900" dirty="0"/>
          </a:p>
        </p:txBody>
      </p:sp>
      <p:pic>
        <p:nvPicPr>
          <p:cNvPr id="5" name="Image 0" descr="/home/claude/mar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04285" y="164592"/>
            <a:ext cx="358811" cy="3291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411480"/>
            <a:ext cx="10881360" cy="0"/>
          </a:xfrm>
          <a:prstGeom prst="line">
            <a:avLst/>
          </a:prstGeom>
          <a:noFill/>
          <a:ln w="6350">
            <a:solidFill>
              <a:srgbClr val="1C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228600" y="228600"/>
            <a:ext cx="109728" cy="0"/>
          </a:xfrm>
          <a:prstGeom prst="line">
            <a:avLst/>
          </a:prstGeom>
          <a:noFill/>
          <a:ln w="6350">
            <a:solidFill>
              <a:srgbClr val="1E6F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228600" y="228600"/>
            <a:ext cx="0" cy="109728"/>
          </a:xfrm>
          <a:prstGeom prst="line">
            <a:avLst/>
          </a:prstGeom>
          <a:noFill/>
          <a:ln w="6350">
            <a:solidFill>
              <a:srgbClr val="1E6F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228600" y="6629400"/>
            <a:ext cx="109728" cy="0"/>
          </a:xfrm>
          <a:prstGeom prst="line">
            <a:avLst/>
          </a:prstGeom>
          <a:noFill/>
          <a:ln w="6350">
            <a:solidFill>
              <a:srgbClr val="1E6F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228600" y="6519672"/>
            <a:ext cx="0" cy="109728"/>
          </a:xfrm>
          <a:prstGeom prst="line">
            <a:avLst/>
          </a:prstGeom>
          <a:noFill/>
          <a:ln w="6350">
            <a:solidFill>
              <a:srgbClr val="1E6F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11853367" y="6629400"/>
            <a:ext cx="109728" cy="0"/>
          </a:xfrm>
          <a:prstGeom prst="line">
            <a:avLst/>
          </a:prstGeom>
          <a:noFill/>
          <a:ln w="6350">
            <a:solidFill>
              <a:srgbClr val="1E6F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11963095" y="6519672"/>
            <a:ext cx="0" cy="109728"/>
          </a:xfrm>
          <a:prstGeom prst="line">
            <a:avLst/>
          </a:prstGeom>
          <a:noFill/>
          <a:ln w="6350">
            <a:solidFill>
              <a:srgbClr val="1E6F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365760" y="6446520"/>
            <a:ext cx="11460175" cy="0"/>
          </a:xfrm>
          <a:prstGeom prst="line">
            <a:avLst/>
          </a:prstGeom>
          <a:noFill/>
          <a:ln w="6350">
            <a:solidFill>
              <a:srgbClr val="1C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365760" y="653796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8595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TAMID QUANT  //  NYU  //  TEMPLATE LIBRARY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11091672" y="653796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888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18 / 24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365760" y="6400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 PAGE TITLE ]</a:t>
            </a:r>
            <a:endParaRPr lang="en-US" sz="3600" dirty="0"/>
          </a:p>
        </p:txBody>
      </p:sp>
      <p:sp>
        <p:nvSpPr>
          <p:cNvPr id="17" name="Shape 14"/>
          <p:cNvSpPr/>
          <p:nvPr/>
        </p:nvSpPr>
        <p:spPr>
          <a:xfrm>
            <a:off x="365760" y="1325880"/>
            <a:ext cx="3657600" cy="0"/>
          </a:xfrm>
          <a:prstGeom prst="line">
            <a:avLst/>
          </a:prstGeom>
          <a:noFill/>
          <a:ln w="19050">
            <a:solidFill>
              <a:srgbClr val="42B5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365760" y="233172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DBDB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 Framing line for the comparison. ]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365760" y="2788920"/>
            <a:ext cx="5532120" cy="3383280"/>
          </a:xfrm>
          <a:prstGeom prst="rect">
            <a:avLst/>
          </a:prstGeom>
          <a:solidFill>
            <a:srgbClr val="1A0000"/>
          </a:solidFill>
          <a:ln w="6350">
            <a:solidFill>
              <a:srgbClr val="44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548640" y="2971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74C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DON'T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48640" y="3291840"/>
            <a:ext cx="5166360" cy="0"/>
          </a:xfrm>
          <a:prstGeom prst="line">
            <a:avLst/>
          </a:prstGeom>
          <a:noFill/>
          <a:ln w="6350">
            <a:solidFill>
              <a:srgbClr val="44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548640" y="35204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74C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—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868680" y="352044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888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 Anti-pattern one ]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548640" y="40233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74C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—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868680" y="402336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888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 Anti-pattern two ]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548640" y="45262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74C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—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868680" y="452628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888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 Anti-pattern three ]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548640" y="50292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74C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—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868680" y="502920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888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 Anti-pattern four ]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6263640" y="2788920"/>
            <a:ext cx="5532120" cy="3383280"/>
          </a:xfrm>
          <a:prstGeom prst="rect">
            <a:avLst/>
          </a:prstGeom>
          <a:solidFill>
            <a:srgbClr val="001A00"/>
          </a:solidFill>
          <a:ln w="6350">
            <a:solidFill>
              <a:srgbClr val="1144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6446520" y="2971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CC7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DO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6446520" y="3291840"/>
            <a:ext cx="5166360" cy="0"/>
          </a:xfrm>
          <a:prstGeom prst="line">
            <a:avLst/>
          </a:prstGeom>
          <a:noFill/>
          <a:ln w="6350">
            <a:solidFill>
              <a:srgbClr val="1144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6446520" y="35204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CC7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6766560" y="352044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CC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 Better pattern one ]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6446520" y="40233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CC7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6766560" y="402336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CC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 Better pattern two ]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6446520" y="45262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CC7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6766560" y="452628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CC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 Better pattern three ]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6446520" y="50292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CC7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</a:t>
            </a:r>
            <a:endParaRPr lang="en-US" sz="1200" dirty="0"/>
          </a:p>
        </p:txBody>
      </p:sp>
      <p:sp>
        <p:nvSpPr>
          <p:cNvPr id="40" name="Text 37"/>
          <p:cNvSpPr/>
          <p:nvPr/>
        </p:nvSpPr>
        <p:spPr>
          <a:xfrm>
            <a:off x="6766560" y="502920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CC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 Better pattern four ]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466576" cy="36576"/>
          </a:xfrm>
          <a:prstGeom prst="rect">
            <a:avLst/>
          </a:prstGeom>
          <a:solidFill>
            <a:srgbClr val="42B5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2B5E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19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68680" y="1371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19  //  RECOMMENDATION / DECISION</a:t>
            </a:r>
            <a:endParaRPr lang="en-US" sz="900" dirty="0"/>
          </a:p>
        </p:txBody>
      </p:sp>
      <p:pic>
        <p:nvPicPr>
          <p:cNvPr id="5" name="Image 0" descr="/home/claude/mar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04285" y="164592"/>
            <a:ext cx="358811" cy="3291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411480"/>
            <a:ext cx="10881360" cy="0"/>
          </a:xfrm>
          <a:prstGeom prst="line">
            <a:avLst/>
          </a:prstGeom>
          <a:noFill/>
          <a:ln w="6350">
            <a:solidFill>
              <a:srgbClr val="1C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228600" y="228600"/>
            <a:ext cx="109728" cy="0"/>
          </a:xfrm>
          <a:prstGeom prst="line">
            <a:avLst/>
          </a:prstGeom>
          <a:noFill/>
          <a:ln w="6350">
            <a:solidFill>
              <a:srgbClr val="1E6F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228600" y="228600"/>
            <a:ext cx="0" cy="109728"/>
          </a:xfrm>
          <a:prstGeom prst="line">
            <a:avLst/>
          </a:prstGeom>
          <a:noFill/>
          <a:ln w="6350">
            <a:solidFill>
              <a:srgbClr val="1E6F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228600" y="6629400"/>
            <a:ext cx="109728" cy="0"/>
          </a:xfrm>
          <a:prstGeom prst="line">
            <a:avLst/>
          </a:prstGeom>
          <a:noFill/>
          <a:ln w="6350">
            <a:solidFill>
              <a:srgbClr val="1E6F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228600" y="6519672"/>
            <a:ext cx="0" cy="109728"/>
          </a:xfrm>
          <a:prstGeom prst="line">
            <a:avLst/>
          </a:prstGeom>
          <a:noFill/>
          <a:ln w="6350">
            <a:solidFill>
              <a:srgbClr val="1E6F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11853367" y="6629400"/>
            <a:ext cx="109728" cy="0"/>
          </a:xfrm>
          <a:prstGeom prst="line">
            <a:avLst/>
          </a:prstGeom>
          <a:noFill/>
          <a:ln w="6350">
            <a:solidFill>
              <a:srgbClr val="1E6F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11963095" y="6519672"/>
            <a:ext cx="0" cy="109728"/>
          </a:xfrm>
          <a:prstGeom prst="line">
            <a:avLst/>
          </a:prstGeom>
          <a:noFill/>
          <a:ln w="6350">
            <a:solidFill>
              <a:srgbClr val="1E6F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365760" y="6446520"/>
            <a:ext cx="11460175" cy="0"/>
          </a:xfrm>
          <a:prstGeom prst="line">
            <a:avLst/>
          </a:prstGeom>
          <a:noFill/>
          <a:ln w="6350">
            <a:solidFill>
              <a:srgbClr val="1C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365760" y="653796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8595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TAMID QUANT  //  NYU  //  TEMPLATE LIBRARY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11091672" y="653796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888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19 / 24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548640" y="118872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1E6F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##</a:t>
            </a:r>
            <a:endParaRPr lang="en-US" sz="8000" dirty="0"/>
          </a:p>
        </p:txBody>
      </p:sp>
      <p:sp>
        <p:nvSpPr>
          <p:cNvPr id="17" name="Text 14"/>
          <p:cNvSpPr/>
          <p:nvPr/>
        </p:nvSpPr>
        <p:spPr>
          <a:xfrm>
            <a:off x="548640" y="265176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RECOMMENDATION</a:t>
            </a:r>
            <a:endParaRPr lang="en-US" sz="4800" dirty="0"/>
          </a:p>
        </p:txBody>
      </p:sp>
      <p:sp>
        <p:nvSpPr>
          <p:cNvPr id="18" name="Shape 15"/>
          <p:cNvSpPr/>
          <p:nvPr/>
        </p:nvSpPr>
        <p:spPr>
          <a:xfrm>
            <a:off x="548640" y="3886200"/>
            <a:ext cx="4572000" cy="0"/>
          </a:xfrm>
          <a:prstGeom prst="line">
            <a:avLst/>
          </a:prstGeom>
          <a:noFill/>
          <a:ln w="19050">
            <a:solidFill>
              <a:srgbClr val="42B5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548640" y="4206240"/>
            <a:ext cx="11064240" cy="1463040"/>
          </a:xfrm>
          <a:prstGeom prst="rect">
            <a:avLst/>
          </a:prstGeom>
          <a:solidFill>
            <a:srgbClr val="141414"/>
          </a:solidFill>
          <a:ln w="6350">
            <a:solidFill>
              <a:srgbClr val="42B5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914400" y="443484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ECC7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 ACTION ] </a:t>
            </a:r>
            <a:r>
              <a:rPr lang="en-US" sz="22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 TARGET ]</a:t>
            </a:r>
            <a:r>
              <a:rPr lang="en-US" sz="2200" dirty="0">
                <a:solidFill>
                  <a:srgbClr val="58595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//  </a:t>
            </a:r>
            <a:r>
              <a:rPr lang="en-US" sz="2200" b="1" dirty="0">
                <a:solidFill>
                  <a:srgbClr val="42B5E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 SIZE ]</a:t>
            </a:r>
            <a:r>
              <a:rPr lang="en-US" sz="2200" dirty="0">
                <a:solidFill>
                  <a:srgbClr val="58595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//  </a:t>
            </a:r>
            <a:r>
              <a:rPr lang="en-US" sz="2200" dirty="0">
                <a:solidFill>
                  <a:srgbClr val="BDBDB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 HORIZON ]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548640" y="58521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Confidence: [ HIGH/MED/LOW ]  //  Driver: [ thesis ]  //  Stop: [ exit condition ]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466576" cy="36576"/>
          </a:xfrm>
          <a:prstGeom prst="rect">
            <a:avLst/>
          </a:prstGeom>
          <a:solidFill>
            <a:srgbClr val="42B5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2B5E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20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68680" y="1371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  //  RISK MATRIX / 2x2</a:t>
            </a:r>
            <a:endParaRPr lang="en-US" sz="900" dirty="0"/>
          </a:p>
        </p:txBody>
      </p:sp>
      <p:pic>
        <p:nvPicPr>
          <p:cNvPr id="5" name="Image 0" descr="/home/claude/mar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04285" y="164592"/>
            <a:ext cx="358811" cy="3291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411480"/>
            <a:ext cx="10881360" cy="0"/>
          </a:xfrm>
          <a:prstGeom prst="line">
            <a:avLst/>
          </a:prstGeom>
          <a:noFill/>
          <a:ln w="6350">
            <a:solidFill>
              <a:srgbClr val="1C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228600" y="228600"/>
            <a:ext cx="109728" cy="0"/>
          </a:xfrm>
          <a:prstGeom prst="line">
            <a:avLst/>
          </a:prstGeom>
          <a:noFill/>
          <a:ln w="6350">
            <a:solidFill>
              <a:srgbClr val="1E6F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228600" y="228600"/>
            <a:ext cx="0" cy="109728"/>
          </a:xfrm>
          <a:prstGeom prst="line">
            <a:avLst/>
          </a:prstGeom>
          <a:noFill/>
          <a:ln w="6350">
            <a:solidFill>
              <a:srgbClr val="1E6F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228600" y="6629400"/>
            <a:ext cx="109728" cy="0"/>
          </a:xfrm>
          <a:prstGeom prst="line">
            <a:avLst/>
          </a:prstGeom>
          <a:noFill/>
          <a:ln w="6350">
            <a:solidFill>
              <a:srgbClr val="1E6F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228600" y="6519672"/>
            <a:ext cx="0" cy="109728"/>
          </a:xfrm>
          <a:prstGeom prst="line">
            <a:avLst/>
          </a:prstGeom>
          <a:noFill/>
          <a:ln w="6350">
            <a:solidFill>
              <a:srgbClr val="1E6F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11853367" y="6629400"/>
            <a:ext cx="109728" cy="0"/>
          </a:xfrm>
          <a:prstGeom prst="line">
            <a:avLst/>
          </a:prstGeom>
          <a:noFill/>
          <a:ln w="6350">
            <a:solidFill>
              <a:srgbClr val="1E6F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11963095" y="6519672"/>
            <a:ext cx="0" cy="109728"/>
          </a:xfrm>
          <a:prstGeom prst="line">
            <a:avLst/>
          </a:prstGeom>
          <a:noFill/>
          <a:ln w="6350">
            <a:solidFill>
              <a:srgbClr val="1E6F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365760" y="6446520"/>
            <a:ext cx="11460175" cy="0"/>
          </a:xfrm>
          <a:prstGeom prst="line">
            <a:avLst/>
          </a:prstGeom>
          <a:noFill/>
          <a:ln w="6350">
            <a:solidFill>
              <a:srgbClr val="1C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365760" y="653796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8595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TAMID QUANT  //  NYU  //  TEMPLATE LIBRARY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11091672" y="653796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888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 / 24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365760" y="6400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 MATRIX TITLE ]</a:t>
            </a:r>
            <a:endParaRPr lang="en-US" sz="3600" dirty="0"/>
          </a:p>
        </p:txBody>
      </p:sp>
      <p:sp>
        <p:nvSpPr>
          <p:cNvPr id="17" name="Shape 14"/>
          <p:cNvSpPr/>
          <p:nvPr/>
        </p:nvSpPr>
        <p:spPr>
          <a:xfrm>
            <a:off x="365760" y="1325880"/>
            <a:ext cx="3657600" cy="0"/>
          </a:xfrm>
          <a:prstGeom prst="line">
            <a:avLst/>
          </a:prstGeom>
          <a:noFill/>
          <a:ln w="19050">
            <a:solidFill>
              <a:srgbClr val="42B5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365760" y="2331720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DBDB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 Optional intro line. ]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1280160" y="2834640"/>
            <a:ext cx="5120640" cy="1554480"/>
          </a:xfrm>
          <a:prstGeom prst="rect">
            <a:avLst/>
          </a:prstGeom>
          <a:solidFill>
            <a:srgbClr val="141414"/>
          </a:solidFill>
          <a:ln w="6350">
            <a:solidFill>
              <a:srgbClr val="1E6F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1280160" y="2834640"/>
            <a:ext cx="45720" cy="1554480"/>
          </a:xfrm>
          <a:prstGeom prst="rect">
            <a:avLst/>
          </a:prstGeom>
          <a:solidFill>
            <a:srgbClr val="1E6F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1508760" y="30175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 TOP LEFT ]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1508760" y="347472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BDBDB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 Description ]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6583680" y="2834640"/>
            <a:ext cx="5120640" cy="1554480"/>
          </a:xfrm>
          <a:prstGeom prst="rect">
            <a:avLst/>
          </a:prstGeom>
          <a:solidFill>
            <a:srgbClr val="141414"/>
          </a:solidFill>
          <a:ln w="6350">
            <a:solidFill>
              <a:srgbClr val="1A6B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6583680" y="2834640"/>
            <a:ext cx="45720" cy="1554480"/>
          </a:xfrm>
          <a:prstGeom prst="rect">
            <a:avLst/>
          </a:prstGeom>
          <a:solidFill>
            <a:srgbClr val="1A6B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6812280" y="30175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 TOP RIGHT ]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6812280" y="347472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BDBDB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 Description ]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1280160" y="4572000"/>
            <a:ext cx="5120640" cy="1554480"/>
          </a:xfrm>
          <a:prstGeom prst="rect">
            <a:avLst/>
          </a:prstGeom>
          <a:solidFill>
            <a:srgbClr val="141414"/>
          </a:solidFill>
          <a:ln w="6350">
            <a:solidFill>
              <a:srgbClr val="6B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1280160" y="4572000"/>
            <a:ext cx="45720" cy="1554480"/>
          </a:xfrm>
          <a:prstGeom prst="rect">
            <a:avLst/>
          </a:prstGeom>
          <a:solidFill>
            <a:srgbClr val="6B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1508760" y="47548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 BOTTOM LEFT ]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1508760" y="521208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BDBDB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 Description ]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6583680" y="4572000"/>
            <a:ext cx="5120640" cy="1554480"/>
          </a:xfrm>
          <a:prstGeom prst="rect">
            <a:avLst/>
          </a:prstGeom>
          <a:solidFill>
            <a:srgbClr val="141414"/>
          </a:solidFill>
          <a:ln w="6350">
            <a:solidFill>
              <a:srgbClr val="6644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9"/>
          <p:cNvSpPr/>
          <p:nvPr/>
        </p:nvSpPr>
        <p:spPr>
          <a:xfrm>
            <a:off x="6583680" y="4572000"/>
            <a:ext cx="45720" cy="1554480"/>
          </a:xfrm>
          <a:prstGeom prst="rect">
            <a:avLst/>
          </a:prstGeom>
          <a:solidFill>
            <a:srgbClr val="6644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6812280" y="47548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 BOTTOM RIGHT ]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6812280" y="521208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BDBDB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 Description ]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365760" y="411480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 Y-AXIS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LABEL ]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1280160" y="62179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 X-AXIS LABEL ]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466576" cy="36576"/>
          </a:xfrm>
          <a:prstGeom prst="rect">
            <a:avLst/>
          </a:prstGeom>
          <a:solidFill>
            <a:srgbClr val="42B5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2B5E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21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68680" y="1371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21  //  TEAM — 3x2</a:t>
            </a:r>
            <a:endParaRPr lang="en-US" sz="900" dirty="0"/>
          </a:p>
        </p:txBody>
      </p:sp>
      <p:pic>
        <p:nvPicPr>
          <p:cNvPr id="5" name="Image 0" descr="/home/claude/mar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04285" y="164592"/>
            <a:ext cx="358811" cy="3291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411480"/>
            <a:ext cx="10881360" cy="0"/>
          </a:xfrm>
          <a:prstGeom prst="line">
            <a:avLst/>
          </a:prstGeom>
          <a:noFill/>
          <a:ln w="6350">
            <a:solidFill>
              <a:srgbClr val="1C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228600" y="228600"/>
            <a:ext cx="109728" cy="0"/>
          </a:xfrm>
          <a:prstGeom prst="line">
            <a:avLst/>
          </a:prstGeom>
          <a:noFill/>
          <a:ln w="6350">
            <a:solidFill>
              <a:srgbClr val="1E6F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228600" y="228600"/>
            <a:ext cx="0" cy="109728"/>
          </a:xfrm>
          <a:prstGeom prst="line">
            <a:avLst/>
          </a:prstGeom>
          <a:noFill/>
          <a:ln w="6350">
            <a:solidFill>
              <a:srgbClr val="1E6F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228600" y="6629400"/>
            <a:ext cx="109728" cy="0"/>
          </a:xfrm>
          <a:prstGeom prst="line">
            <a:avLst/>
          </a:prstGeom>
          <a:noFill/>
          <a:ln w="6350">
            <a:solidFill>
              <a:srgbClr val="1E6F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228600" y="6519672"/>
            <a:ext cx="0" cy="109728"/>
          </a:xfrm>
          <a:prstGeom prst="line">
            <a:avLst/>
          </a:prstGeom>
          <a:noFill/>
          <a:ln w="6350">
            <a:solidFill>
              <a:srgbClr val="1E6F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11853367" y="6629400"/>
            <a:ext cx="109728" cy="0"/>
          </a:xfrm>
          <a:prstGeom prst="line">
            <a:avLst/>
          </a:prstGeom>
          <a:noFill/>
          <a:ln w="6350">
            <a:solidFill>
              <a:srgbClr val="1E6F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11963095" y="6519672"/>
            <a:ext cx="0" cy="109728"/>
          </a:xfrm>
          <a:prstGeom prst="line">
            <a:avLst/>
          </a:prstGeom>
          <a:noFill/>
          <a:ln w="6350">
            <a:solidFill>
              <a:srgbClr val="1E6F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365760" y="6446520"/>
            <a:ext cx="11460175" cy="0"/>
          </a:xfrm>
          <a:prstGeom prst="line">
            <a:avLst/>
          </a:prstGeom>
          <a:noFill/>
          <a:ln w="6350">
            <a:solidFill>
              <a:srgbClr val="1C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365760" y="653796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8595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TAMID QUANT  //  NYU  //  TEMPLATE LIBRARY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11091672" y="653796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888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21 / 24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365760" y="6400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TEAM</a:t>
            </a:r>
            <a:endParaRPr lang="en-US" sz="3600" dirty="0"/>
          </a:p>
        </p:txBody>
      </p:sp>
      <p:sp>
        <p:nvSpPr>
          <p:cNvPr id="17" name="Shape 14"/>
          <p:cNvSpPr/>
          <p:nvPr/>
        </p:nvSpPr>
        <p:spPr>
          <a:xfrm>
            <a:off x="365760" y="1325880"/>
            <a:ext cx="3657600" cy="0"/>
          </a:xfrm>
          <a:prstGeom prst="line">
            <a:avLst/>
          </a:prstGeom>
          <a:noFill/>
          <a:ln w="19050">
            <a:solidFill>
              <a:srgbClr val="42B5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365760" y="233172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DBDB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Operator profiles. Replace with actual members.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365760" y="2834640"/>
            <a:ext cx="3703320" cy="1417320"/>
          </a:xfrm>
          <a:prstGeom prst="rect">
            <a:avLst/>
          </a:prstGeom>
          <a:solidFill>
            <a:srgbClr val="141414"/>
          </a:solidFill>
          <a:ln w="6350">
            <a:solidFill>
              <a:srgbClr val="1A3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365760" y="2834640"/>
            <a:ext cx="45720" cy="1417320"/>
          </a:xfrm>
          <a:prstGeom prst="rect">
            <a:avLst/>
          </a:prstGeom>
          <a:solidFill>
            <a:srgbClr val="42B5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594360" y="299923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 NAME ]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594360" y="3337560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2B5E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 ROLE  //  TRACK ]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594360" y="361188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DBDB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 Concentration ]. [ School '##  ]. Prior: [ Experience ].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4251960" y="2834640"/>
            <a:ext cx="3703320" cy="1417320"/>
          </a:xfrm>
          <a:prstGeom prst="rect">
            <a:avLst/>
          </a:prstGeom>
          <a:solidFill>
            <a:srgbClr val="141414"/>
          </a:solidFill>
          <a:ln w="6350">
            <a:solidFill>
              <a:srgbClr val="1A3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4251960" y="2834640"/>
            <a:ext cx="45720" cy="1417320"/>
          </a:xfrm>
          <a:prstGeom prst="rect">
            <a:avLst/>
          </a:prstGeom>
          <a:solidFill>
            <a:srgbClr val="42B5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4480560" y="299923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 NAME ]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4480560" y="3337560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2B5E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 ROLE  //  TRACK ]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4480560" y="361188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DBDB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 Concentration ]. [ School '##  ]. Prior: [ Experience ].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8138160" y="2834640"/>
            <a:ext cx="3703320" cy="1417320"/>
          </a:xfrm>
          <a:prstGeom prst="rect">
            <a:avLst/>
          </a:prstGeom>
          <a:solidFill>
            <a:srgbClr val="141414"/>
          </a:solidFill>
          <a:ln w="6350">
            <a:solidFill>
              <a:srgbClr val="1A3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8138160" y="2834640"/>
            <a:ext cx="45720" cy="1417320"/>
          </a:xfrm>
          <a:prstGeom prst="rect">
            <a:avLst/>
          </a:prstGeom>
          <a:solidFill>
            <a:srgbClr val="42B5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8366760" y="299923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 NAME ]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8366760" y="3337560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2B5E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 ROLE  //  TRACK ]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8366760" y="361188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DBDB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 Concentration ]. [ School '##  ]. Prior: [ Experience ].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365760" y="4480560"/>
            <a:ext cx="3703320" cy="1417320"/>
          </a:xfrm>
          <a:prstGeom prst="rect">
            <a:avLst/>
          </a:prstGeom>
          <a:solidFill>
            <a:srgbClr val="141414"/>
          </a:solidFill>
          <a:ln w="6350">
            <a:solidFill>
              <a:srgbClr val="1A3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2"/>
          <p:cNvSpPr/>
          <p:nvPr/>
        </p:nvSpPr>
        <p:spPr>
          <a:xfrm>
            <a:off x="365760" y="4480560"/>
            <a:ext cx="45720" cy="1417320"/>
          </a:xfrm>
          <a:prstGeom prst="rect">
            <a:avLst/>
          </a:prstGeom>
          <a:solidFill>
            <a:srgbClr val="42B5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594360" y="464515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 NAME ]</a:t>
            </a:r>
            <a:endParaRPr lang="en-US" sz="1300" dirty="0"/>
          </a:p>
        </p:txBody>
      </p:sp>
      <p:sp>
        <p:nvSpPr>
          <p:cNvPr id="37" name="Text 34"/>
          <p:cNvSpPr/>
          <p:nvPr/>
        </p:nvSpPr>
        <p:spPr>
          <a:xfrm>
            <a:off x="594360" y="4983480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2B5E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 ROLE  //  TRACK ]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594360" y="525780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DBDB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 Concentration ]. [ School '##  ]. Prior: [ Experience ].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4251960" y="4480560"/>
            <a:ext cx="3703320" cy="1417320"/>
          </a:xfrm>
          <a:prstGeom prst="rect">
            <a:avLst/>
          </a:prstGeom>
          <a:solidFill>
            <a:srgbClr val="141414"/>
          </a:solidFill>
          <a:ln w="6350">
            <a:solidFill>
              <a:srgbClr val="1A3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7"/>
          <p:cNvSpPr/>
          <p:nvPr/>
        </p:nvSpPr>
        <p:spPr>
          <a:xfrm>
            <a:off x="4251960" y="4480560"/>
            <a:ext cx="45720" cy="1417320"/>
          </a:xfrm>
          <a:prstGeom prst="rect">
            <a:avLst/>
          </a:prstGeom>
          <a:solidFill>
            <a:srgbClr val="42B5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8"/>
          <p:cNvSpPr/>
          <p:nvPr/>
        </p:nvSpPr>
        <p:spPr>
          <a:xfrm>
            <a:off x="4480560" y="464515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 NAME ]</a:t>
            </a:r>
            <a:endParaRPr lang="en-US" sz="1300" dirty="0"/>
          </a:p>
        </p:txBody>
      </p:sp>
      <p:sp>
        <p:nvSpPr>
          <p:cNvPr id="42" name="Text 39"/>
          <p:cNvSpPr/>
          <p:nvPr/>
        </p:nvSpPr>
        <p:spPr>
          <a:xfrm>
            <a:off x="4480560" y="4983480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2B5E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 ROLE  //  TRACK ]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4480560" y="525780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DBDB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 Concentration ]. [ School '##  ]. Prior: [ Experience ].</a:t>
            </a:r>
            <a:endParaRPr lang="en-US" sz="1000" dirty="0"/>
          </a:p>
        </p:txBody>
      </p:sp>
      <p:sp>
        <p:nvSpPr>
          <p:cNvPr id="44" name="Shape 41"/>
          <p:cNvSpPr/>
          <p:nvPr/>
        </p:nvSpPr>
        <p:spPr>
          <a:xfrm>
            <a:off x="8138160" y="4480560"/>
            <a:ext cx="3703320" cy="1417320"/>
          </a:xfrm>
          <a:prstGeom prst="rect">
            <a:avLst/>
          </a:prstGeom>
          <a:solidFill>
            <a:srgbClr val="141414"/>
          </a:solidFill>
          <a:ln w="6350">
            <a:solidFill>
              <a:srgbClr val="1A3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2"/>
          <p:cNvSpPr/>
          <p:nvPr/>
        </p:nvSpPr>
        <p:spPr>
          <a:xfrm>
            <a:off x="8138160" y="4480560"/>
            <a:ext cx="45720" cy="1417320"/>
          </a:xfrm>
          <a:prstGeom prst="rect">
            <a:avLst/>
          </a:prstGeom>
          <a:solidFill>
            <a:srgbClr val="42B5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3"/>
          <p:cNvSpPr/>
          <p:nvPr/>
        </p:nvSpPr>
        <p:spPr>
          <a:xfrm>
            <a:off x="8366760" y="464515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 NAME ]</a:t>
            </a:r>
            <a:endParaRPr lang="en-US" sz="1300" dirty="0"/>
          </a:p>
        </p:txBody>
      </p:sp>
      <p:sp>
        <p:nvSpPr>
          <p:cNvPr id="47" name="Text 44"/>
          <p:cNvSpPr/>
          <p:nvPr/>
        </p:nvSpPr>
        <p:spPr>
          <a:xfrm>
            <a:off x="8366760" y="4983480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2B5E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 ROLE  //  TRACK ]</a:t>
            </a:r>
            <a:endParaRPr lang="en-US" sz="900" dirty="0"/>
          </a:p>
        </p:txBody>
      </p:sp>
      <p:sp>
        <p:nvSpPr>
          <p:cNvPr id="48" name="Text 45"/>
          <p:cNvSpPr/>
          <p:nvPr/>
        </p:nvSpPr>
        <p:spPr>
          <a:xfrm>
            <a:off x="8366760" y="525780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DBDB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 Concentration ]. [ School '##  ]. Prior: [ Experience ].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466576" cy="36576"/>
          </a:xfrm>
          <a:prstGeom prst="rect">
            <a:avLst/>
          </a:prstGeom>
          <a:solidFill>
            <a:srgbClr val="42B5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2B5E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22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68680" y="1371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22  //  INDIVIDUAL PROFILE</a:t>
            </a:r>
            <a:endParaRPr lang="en-US" sz="900" dirty="0"/>
          </a:p>
        </p:txBody>
      </p:sp>
      <p:pic>
        <p:nvPicPr>
          <p:cNvPr id="5" name="Image 0" descr="/home/claude/mar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04285" y="164592"/>
            <a:ext cx="358811" cy="3291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411480"/>
            <a:ext cx="10881360" cy="0"/>
          </a:xfrm>
          <a:prstGeom prst="line">
            <a:avLst/>
          </a:prstGeom>
          <a:noFill/>
          <a:ln w="6350">
            <a:solidFill>
              <a:srgbClr val="1C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228600" y="228600"/>
            <a:ext cx="109728" cy="0"/>
          </a:xfrm>
          <a:prstGeom prst="line">
            <a:avLst/>
          </a:prstGeom>
          <a:noFill/>
          <a:ln w="6350">
            <a:solidFill>
              <a:srgbClr val="1E6F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228600" y="228600"/>
            <a:ext cx="0" cy="109728"/>
          </a:xfrm>
          <a:prstGeom prst="line">
            <a:avLst/>
          </a:prstGeom>
          <a:noFill/>
          <a:ln w="6350">
            <a:solidFill>
              <a:srgbClr val="1E6F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228600" y="6629400"/>
            <a:ext cx="109728" cy="0"/>
          </a:xfrm>
          <a:prstGeom prst="line">
            <a:avLst/>
          </a:prstGeom>
          <a:noFill/>
          <a:ln w="6350">
            <a:solidFill>
              <a:srgbClr val="1E6F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228600" y="6519672"/>
            <a:ext cx="0" cy="109728"/>
          </a:xfrm>
          <a:prstGeom prst="line">
            <a:avLst/>
          </a:prstGeom>
          <a:noFill/>
          <a:ln w="6350">
            <a:solidFill>
              <a:srgbClr val="1E6F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11853367" y="6629400"/>
            <a:ext cx="109728" cy="0"/>
          </a:xfrm>
          <a:prstGeom prst="line">
            <a:avLst/>
          </a:prstGeom>
          <a:noFill/>
          <a:ln w="6350">
            <a:solidFill>
              <a:srgbClr val="1E6F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11963095" y="6519672"/>
            <a:ext cx="0" cy="109728"/>
          </a:xfrm>
          <a:prstGeom prst="line">
            <a:avLst/>
          </a:prstGeom>
          <a:noFill/>
          <a:ln w="6350">
            <a:solidFill>
              <a:srgbClr val="1E6F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365760" y="6446520"/>
            <a:ext cx="11460175" cy="0"/>
          </a:xfrm>
          <a:prstGeom prst="line">
            <a:avLst/>
          </a:prstGeom>
          <a:noFill/>
          <a:ln w="6350">
            <a:solidFill>
              <a:srgbClr val="1C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365760" y="653796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8595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TAMID QUANT  //  NYU  //  TEMPLATE LIBRARY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11091672" y="653796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888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22 / 24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365760" y="82296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 NAME ]</a:t>
            </a:r>
            <a:endParaRPr lang="en-US" sz="4400" dirty="0"/>
          </a:p>
        </p:txBody>
      </p:sp>
      <p:sp>
        <p:nvSpPr>
          <p:cNvPr id="17" name="Shape 14"/>
          <p:cNvSpPr/>
          <p:nvPr/>
        </p:nvSpPr>
        <p:spPr>
          <a:xfrm>
            <a:off x="365760" y="1874520"/>
            <a:ext cx="3657600" cy="0"/>
          </a:xfrm>
          <a:prstGeom prst="line">
            <a:avLst/>
          </a:prstGeom>
          <a:noFill/>
          <a:ln w="19050">
            <a:solidFill>
              <a:srgbClr val="42B5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365760" y="2011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2B5E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 ROLE  //  TRACK ]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365760" y="2743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2B5E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BIO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365760" y="3017520"/>
            <a:ext cx="5486400" cy="0"/>
          </a:xfrm>
          <a:prstGeom prst="line">
            <a:avLst/>
          </a:prstGeom>
          <a:noFill/>
          <a:ln w="6350">
            <a:solidFill>
              <a:srgbClr val="1C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365760" y="3200400"/>
            <a:ext cx="5486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DBDB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 Two-to-three sentence bio. What they study, what they've worked on, why they're here. State accomplishments without ornament. ]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400800" y="2743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2B5E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SPECS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6400800" y="3017520"/>
            <a:ext cx="5394960" cy="0"/>
          </a:xfrm>
          <a:prstGeom prst="line">
            <a:avLst/>
          </a:prstGeom>
          <a:noFill/>
          <a:ln w="6350">
            <a:solidFill>
              <a:srgbClr val="1C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6400800" y="32004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EDUCATION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7863840" y="32004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 School, '##, Concentration ]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6400800" y="36118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PRIOR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7863840" y="36118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 Internships or relevant work ]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6400800" y="40233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FOCUS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7863840" y="40233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 Research areas, asset class ]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6400800" y="44348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LANGUAGES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7863840" y="44348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 Programming, spoken ]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6400800" y="48463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CONTACT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7863840" y="48463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 email or LinkedIn handle ]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466576" cy="36576"/>
          </a:xfrm>
          <a:prstGeom prst="rect">
            <a:avLst/>
          </a:prstGeom>
          <a:solidFill>
            <a:srgbClr val="42B5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2B5E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23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68680" y="1371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23  //  Q&amp;A / DIVIDER</a:t>
            </a:r>
            <a:endParaRPr lang="en-US" sz="900" dirty="0"/>
          </a:p>
        </p:txBody>
      </p:sp>
      <p:pic>
        <p:nvPicPr>
          <p:cNvPr id="5" name="Image 0" descr="/home/claude/mar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04285" y="164592"/>
            <a:ext cx="358811" cy="3291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411480"/>
            <a:ext cx="10881360" cy="0"/>
          </a:xfrm>
          <a:prstGeom prst="line">
            <a:avLst/>
          </a:prstGeom>
          <a:noFill/>
          <a:ln w="6350">
            <a:solidFill>
              <a:srgbClr val="1C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228600" y="228600"/>
            <a:ext cx="109728" cy="0"/>
          </a:xfrm>
          <a:prstGeom prst="line">
            <a:avLst/>
          </a:prstGeom>
          <a:noFill/>
          <a:ln w="6350">
            <a:solidFill>
              <a:srgbClr val="1E6F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228600" y="228600"/>
            <a:ext cx="0" cy="109728"/>
          </a:xfrm>
          <a:prstGeom prst="line">
            <a:avLst/>
          </a:prstGeom>
          <a:noFill/>
          <a:ln w="6350">
            <a:solidFill>
              <a:srgbClr val="1E6F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228600" y="6629400"/>
            <a:ext cx="109728" cy="0"/>
          </a:xfrm>
          <a:prstGeom prst="line">
            <a:avLst/>
          </a:prstGeom>
          <a:noFill/>
          <a:ln w="6350">
            <a:solidFill>
              <a:srgbClr val="1E6F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228600" y="6519672"/>
            <a:ext cx="0" cy="109728"/>
          </a:xfrm>
          <a:prstGeom prst="line">
            <a:avLst/>
          </a:prstGeom>
          <a:noFill/>
          <a:ln w="6350">
            <a:solidFill>
              <a:srgbClr val="1E6F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11853367" y="6629400"/>
            <a:ext cx="109728" cy="0"/>
          </a:xfrm>
          <a:prstGeom prst="line">
            <a:avLst/>
          </a:prstGeom>
          <a:noFill/>
          <a:ln w="6350">
            <a:solidFill>
              <a:srgbClr val="1E6F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11963095" y="6519672"/>
            <a:ext cx="0" cy="109728"/>
          </a:xfrm>
          <a:prstGeom prst="line">
            <a:avLst/>
          </a:prstGeom>
          <a:noFill/>
          <a:ln w="6350">
            <a:solidFill>
              <a:srgbClr val="1E6F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365760" y="6446520"/>
            <a:ext cx="11460175" cy="0"/>
          </a:xfrm>
          <a:prstGeom prst="line">
            <a:avLst/>
          </a:prstGeom>
          <a:noFill/>
          <a:ln w="6350">
            <a:solidFill>
              <a:srgbClr val="1C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365760" y="653796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8595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TAMID QUANT  //  NYU  //  TEMPLATE LIBRARY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11091672" y="653796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888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23 / 24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365760" y="2468880"/>
            <a:ext cx="11430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Q &amp; A</a:t>
            </a:r>
            <a:endParaRPr lang="en-US" sz="9600" dirty="0"/>
          </a:p>
        </p:txBody>
      </p:sp>
      <p:sp>
        <p:nvSpPr>
          <p:cNvPr id="17" name="Shape 14"/>
          <p:cNvSpPr/>
          <p:nvPr/>
        </p:nvSpPr>
        <p:spPr>
          <a:xfrm>
            <a:off x="4724248" y="4114800"/>
            <a:ext cx="2743200" cy="0"/>
          </a:xfrm>
          <a:prstGeom prst="line">
            <a:avLst/>
          </a:prstGeom>
          <a:noFill/>
          <a:ln w="19050">
            <a:solidFill>
              <a:srgbClr val="42B5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365760" y="438912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DBDB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 Optional prompt or framing. ]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466576" cy="36576"/>
          </a:xfrm>
          <a:prstGeom prst="rect">
            <a:avLst/>
          </a:prstGeom>
          <a:solidFill>
            <a:srgbClr val="42B5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2B5E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24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68680" y="1371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24  //  THANK YOU / CONTACT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411480"/>
            <a:ext cx="10881360" cy="0"/>
          </a:xfrm>
          <a:prstGeom prst="line">
            <a:avLst/>
          </a:prstGeom>
          <a:noFill/>
          <a:ln w="6350">
            <a:solidFill>
              <a:srgbClr val="1C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28600" y="228600"/>
            <a:ext cx="109728" cy="0"/>
          </a:xfrm>
          <a:prstGeom prst="line">
            <a:avLst/>
          </a:prstGeom>
          <a:noFill/>
          <a:ln w="6350">
            <a:solidFill>
              <a:srgbClr val="1E6F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28600" y="228600"/>
            <a:ext cx="0" cy="109728"/>
          </a:xfrm>
          <a:prstGeom prst="line">
            <a:avLst/>
          </a:prstGeom>
          <a:noFill/>
          <a:ln w="6350">
            <a:solidFill>
              <a:srgbClr val="1E6F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28600" y="6629400"/>
            <a:ext cx="109728" cy="0"/>
          </a:xfrm>
          <a:prstGeom prst="line">
            <a:avLst/>
          </a:prstGeom>
          <a:noFill/>
          <a:ln w="6350">
            <a:solidFill>
              <a:srgbClr val="1E6F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28600" y="6519672"/>
            <a:ext cx="0" cy="109728"/>
          </a:xfrm>
          <a:prstGeom prst="line">
            <a:avLst/>
          </a:prstGeom>
          <a:noFill/>
          <a:ln w="6350">
            <a:solidFill>
              <a:srgbClr val="1E6F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1853367" y="6629400"/>
            <a:ext cx="109728" cy="0"/>
          </a:xfrm>
          <a:prstGeom prst="line">
            <a:avLst/>
          </a:prstGeom>
          <a:noFill/>
          <a:ln w="6350">
            <a:solidFill>
              <a:srgbClr val="1E6F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1963095" y="6519672"/>
            <a:ext cx="0" cy="109728"/>
          </a:xfrm>
          <a:prstGeom prst="line">
            <a:avLst/>
          </a:prstGeom>
          <a:noFill/>
          <a:ln w="6350">
            <a:solidFill>
              <a:srgbClr val="1E6F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65760" y="6446520"/>
            <a:ext cx="11460175" cy="0"/>
          </a:xfrm>
          <a:prstGeom prst="line">
            <a:avLst/>
          </a:prstGeom>
          <a:noFill/>
          <a:ln w="6350">
            <a:solidFill>
              <a:srgbClr val="1C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65760" y="653796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8595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TAMID QUANT  //  NYU  //  TEMPLATE LIBRARY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1091672" y="653796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888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24 / 24</a:t>
            </a:r>
            <a:endParaRPr lang="en-US" sz="800" dirty="0"/>
          </a:p>
        </p:txBody>
      </p:sp>
      <p:pic>
        <p:nvPicPr>
          <p:cNvPr id="17" name="Image 0" descr="/home/claude/mar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8105" y="3840480"/>
            <a:ext cx="2392070" cy="219456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48640" y="182880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THANK YOU.</a:t>
            </a:r>
            <a:endParaRPr lang="en-US" sz="6000" dirty="0"/>
          </a:p>
        </p:txBody>
      </p:sp>
      <p:sp>
        <p:nvSpPr>
          <p:cNvPr id="19" name="Shape 16"/>
          <p:cNvSpPr/>
          <p:nvPr/>
        </p:nvSpPr>
        <p:spPr>
          <a:xfrm>
            <a:off x="548640" y="3108960"/>
            <a:ext cx="4572000" cy="0"/>
          </a:xfrm>
          <a:prstGeom prst="line">
            <a:avLst/>
          </a:prstGeom>
          <a:noFill/>
          <a:ln w="19050">
            <a:solidFill>
              <a:srgbClr val="42B5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548640" y="3291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DBDB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Questions, feedback, or follow-up: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548640" y="4023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EMAIL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2011680" y="4023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2B5E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taquant@nyu.edu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48640" y="43891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WEBSITE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2011680" y="4389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2B5E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taquant.nyu.edu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548640" y="4754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LINKEDIN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201168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2B5E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@tamidquantnyu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548640" y="51206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INSTAGRAM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2011680" y="5120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2B5E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@tamidquant.nyu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548640" y="5852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8595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TAMID QUANT  //  NYU STERN / CAS  //  TAMID GROUP CHAPTER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1744</Words>
  <Application>Microsoft Macintosh PowerPoint</Application>
  <PresentationFormat>Widescreen</PresentationFormat>
  <Paragraphs>387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IBM Plex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TAMID Quant — Master Slide Template</dc:title>
  <dc:subject>PptxGenJS Presentation</dc:subject>
  <dc:creator>TAMID Quant</dc:creator>
  <cp:lastModifiedBy>Aaron Blatnoy</cp:lastModifiedBy>
  <cp:revision>2</cp:revision>
  <dcterms:created xsi:type="dcterms:W3CDTF">2026-04-26T19:07:48Z</dcterms:created>
  <dcterms:modified xsi:type="dcterms:W3CDTF">2026-04-26T19:33:01Z</dcterms:modified>
</cp:coreProperties>
</file>