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0A0A20"/>
          </a:solidFill>
          <a:ln w="12700">
            <a:solidFill>
              <a:srgbClr val="0A0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74320"/>
            <a:ext cx="1097280" cy="1097280"/>
          </a:xfrm>
          <a:prstGeom prst="rect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1097280"/>
            <a:ext cx="731520" cy="731520"/>
          </a:xfrm>
          <a:prstGeom prst="rect">
            <a:avLst/>
          </a:prstGeom>
          <a:solidFill>
            <a:srgbClr val="7C5CBF">
              <a:alpha val="40000"/>
            </a:srgbClr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1645920"/>
            <a:ext cx="1280160" cy="1280160"/>
          </a:xfrm>
          <a:prstGeom prst="rect">
            <a:avLst/>
          </a:prstGeom>
          <a:solidFill>
            <a:srgbClr val="FF6B35">
              <a:alpha val="2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Calculus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Crash Course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TAMID Quant  |  NYU  |  Spring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80815"/>
          </a:solidFill>
          <a:ln w="12700">
            <a:solidFill>
              <a:srgbClr val="08081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206240"/>
            <a:ext cx="91440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27939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Processes  ·  Martingales  ·  Brownian Motion  ·  Quadratic Variation  ·  Itô Integral  ·  Itô's Lemma  ·  SDEs  ·  Feynman-Kac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56032"/>
            <a:ext cx="1280160" cy="256032"/>
          </a:xfrm>
          <a:prstGeom prst="rect">
            <a:avLst>
              <a:gd name="adj" fmla="val 14286"/>
            </a:avLst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Processes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spaces, filtrations, and the mathematics of uncertainty over time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18288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Processes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78992"/>
            <a:ext cx="109728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56032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023360" cy="914400"/>
          </a:xfrm>
          <a:prstGeom prst="rect">
            <a:avLst/>
          </a:prstGeom>
          <a:solidFill>
            <a:srgbClr val="13132B"/>
          </a:solidFill>
          <a:ln w="12700">
            <a:solidFill>
              <a:srgbClr val="1E1E3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54864" cy="9144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6187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stochastic process is a collection of random variables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176272"/>
            <a:ext cx="4023360" cy="384048"/>
          </a:xfrm>
          <a:prstGeom prst="rect">
            <a:avLst/>
          </a:prstGeom>
          <a:solidFill>
            <a:srgbClr val="0A0A20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2176272"/>
            <a:ext cx="3877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Xₜ }ₜ≥₀  defined on  (Ω, F, P)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160520" cy="914400"/>
          </a:xfrm>
          <a:prstGeom prst="rect">
            <a:avLst/>
          </a:prstGeom>
          <a:solidFill>
            <a:srgbClr val="13132B"/>
          </a:solidFill>
          <a:ln w="12700">
            <a:solidFill>
              <a:srgbClr val="1E1E3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34440"/>
            <a:ext cx="54864" cy="91440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26187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filtration { ℱₜ } is an increasing family of σ-algebras encoding all information available up to time 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697480"/>
            <a:ext cx="4023360" cy="1371600"/>
          </a:xfrm>
          <a:prstGeom prst="rect">
            <a:avLst/>
          </a:prstGeom>
          <a:solidFill>
            <a:srgbClr val="13132B"/>
          </a:solidFill>
          <a:ln w="12700">
            <a:solidFill>
              <a:srgbClr val="1E1E3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697480"/>
            <a:ext cx="54864" cy="13716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249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Paths vs. Distributions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072384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path:</a:t>
            </a:r>
            <a:pPr indent="0" marL="0">
              <a:buNone/>
            </a:pPr>
            <a:r>
              <a:rPr lang="en-US" sz="11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one realization ω ∈ Ω of the process — think of it as a single observed trajectory
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Distribution:</a:t>
            </a:r>
            <a:pPr indent="0" marL="0">
              <a:buNone/>
            </a:pPr>
            <a:r>
              <a:rPr lang="en-US" sz="11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law governing all paths simultaneously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2697480"/>
            <a:ext cx="4160520" cy="1371600"/>
          </a:xfrm>
          <a:prstGeom prst="rect">
            <a:avLst/>
          </a:prstGeom>
          <a:solidFill>
            <a:srgbClr val="13132B"/>
          </a:solidFill>
          <a:ln w="12700">
            <a:solidFill>
              <a:srgbClr val="1E1E3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697480"/>
            <a:ext cx="54864" cy="13716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7249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Adaptedness &amp; Measurability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072384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Xₜ is ℱₜ-measurable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Xₜ is knowable given information up to time t — no look-ahead.
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formal definition of 'adapted to the filtration.'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20040" y="41605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(Ω, F, P) as the ambient probability space — Ω is all possible scenarios, F is the set of measurable events, P assigns probabilities.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56032"/>
            <a:ext cx="1280160" cy="256032"/>
          </a:xfrm>
          <a:prstGeom prst="rect">
            <a:avLst>
              <a:gd name="adj" fmla="val 14286"/>
            </a:avLst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Martingales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fair game condition — no systematic drift, no free lunch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182880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Martingales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78992"/>
            <a:ext cx="109728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56032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8503920" cy="777240"/>
          </a:xfrm>
          <a:prstGeom prst="rect">
            <a:avLst/>
          </a:prstGeom>
          <a:solidFill>
            <a:srgbClr val="13132B"/>
          </a:solidFill>
          <a:ln w="12700">
            <a:solidFill>
              <a:srgbClr val="1E1E3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54864" cy="777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618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 {Xₜ} adapted to {ℱₜ} is a martingale if: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92040" y="1261872"/>
            <a:ext cx="3794760" cy="713232"/>
          </a:xfrm>
          <a:prstGeom prst="rect">
            <a:avLst/>
          </a:prstGeom>
          <a:solidFill>
            <a:srgbClr val="0A0A20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261872"/>
            <a:ext cx="36484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E[ Xₜ | ℱₛ ] = Xₛ   ∀ s ≤ 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176272"/>
            <a:ext cx="2697480" cy="1508760"/>
          </a:xfrm>
          <a:prstGeom prst="rect">
            <a:avLst/>
          </a:prstGeom>
          <a:solidFill>
            <a:srgbClr val="13132B"/>
          </a:solidFill>
          <a:ln w="12700">
            <a:solidFill>
              <a:srgbClr val="1E1E3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176272"/>
            <a:ext cx="54864" cy="15087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128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542032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forecast of the future value is the current value. No systematic drift up or down — a fair game.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0" y="2176272"/>
            <a:ext cx="2697480" cy="1508760"/>
          </a:xfrm>
          <a:prstGeom prst="rect">
            <a:avLst/>
          </a:prstGeom>
          <a:solidFill>
            <a:srgbClr val="13132B"/>
          </a:solidFill>
          <a:ln w="12700">
            <a:solidFill>
              <a:srgbClr val="1E1E3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2176272"/>
            <a:ext cx="54864" cy="150876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2128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2542032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random walk  Sₙ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Brownian motion  Wₜ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Wₜ² − t  (variance compensated)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Itô integral  ∫ Hₛ dWₛ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80760" y="2176272"/>
            <a:ext cx="2697480" cy="1508760"/>
          </a:xfrm>
          <a:prstGeom prst="rect">
            <a:avLst/>
          </a:prstGeom>
          <a:solidFill>
            <a:srgbClr val="13132B"/>
          </a:solidFill>
          <a:ln w="12700">
            <a:solidFill>
              <a:srgbClr val="1E1E3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2176272"/>
            <a:ext cx="54864" cy="150876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22128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2542032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Itô integral is a martingale — that's the key property underlying its L² theory. Martingales are also central to no-arbitrage pricing.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3794760"/>
            <a:ext cx="8503920" cy="777240"/>
          </a:xfrm>
          <a:prstGeom prst="rect">
            <a:avLst/>
          </a:prstGeom>
          <a:solidFill>
            <a:srgbClr val="08081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8404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connection:  Under the risk-neutral measure Q, discounted asset prices are martingales. This is the mathematical foundation of derivative pricing.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56032"/>
            <a:ext cx="1280160" cy="256032"/>
          </a:xfrm>
          <a:prstGeom prst="rect">
            <a:avLst>
              <a:gd name="adj" fmla="val 14286"/>
            </a:avLst>
          </a:prstGeom>
          <a:solidFill>
            <a:srgbClr val="7C5CBF">
              <a:alpha val="80000"/>
            </a:srgbClr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Brownian Motion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continuous-time limit of a random walk — and why classical calculus fails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1828800" cy="36576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Brownian Motion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78992"/>
            <a:ext cx="109728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56032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7C5CBF">
              <a:alpha val="80000"/>
            </a:srgbClr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8503920" cy="1005840"/>
          </a:xfrm>
          <a:prstGeom prst="rect">
            <a:avLst/>
          </a:prstGeom>
          <a:solidFill>
            <a:srgbClr val="13132B"/>
          </a:solidFill>
          <a:ln w="12700">
            <a:solidFill>
              <a:srgbClr val="1E1E3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54864" cy="100584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61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Definition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stochastic process {Wₜ}ₜ≥₀ is a standard Brownian motion if: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97680" y="126187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W₀ = 0   a.s.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Wₜ − Wₛ ~ N(0, t−s)   for s &lt; 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Independent increments on disjoint intervals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395728"/>
            <a:ext cx="2697480" cy="1417320"/>
          </a:xfrm>
          <a:prstGeom prst="rect">
            <a:avLst/>
          </a:prstGeom>
          <a:solidFill>
            <a:srgbClr val="13132B"/>
          </a:solidFill>
          <a:ln w="12700">
            <a:solidFill>
              <a:srgbClr val="1E1E3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395728"/>
            <a:ext cx="54864" cy="141732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323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Paths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7432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Wₜ has continuous sample paths almost surely — no jumps. This makes it the canonical model for continuous-time noise.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0" y="2395728"/>
            <a:ext cx="2697480" cy="1417320"/>
          </a:xfrm>
          <a:prstGeom prst="rect">
            <a:avLst/>
          </a:prstGeom>
          <a:solidFill>
            <a:srgbClr val="13132B"/>
          </a:solidFill>
          <a:ln w="12700">
            <a:solidFill>
              <a:srgbClr val="1E1E3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2395728"/>
            <a:ext cx="54864" cy="1417320"/>
          </a:xfrm>
          <a:prstGeom prst="rect">
            <a:avLst/>
          </a:prstGeom>
          <a:solidFill>
            <a:srgbClr val="FF4D8B"/>
          </a:solidFill>
          <a:ln w="12700">
            <a:solidFill>
              <a:srgbClr val="FF4D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4323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Nowhere Differentiable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27432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Wₜ is continuous but has no derivative anywhere — its paths are infinitely jagged. This is why dW/dt does not exist and classical calculus breaks down.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2395728"/>
            <a:ext cx="2697480" cy="1417320"/>
          </a:xfrm>
          <a:prstGeom prst="rect">
            <a:avLst/>
          </a:prstGeom>
          <a:solidFill>
            <a:srgbClr val="13132B"/>
          </a:solidFill>
          <a:ln w="12700">
            <a:solidFill>
              <a:srgbClr val="1E1E3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2395728"/>
            <a:ext cx="54864" cy="141732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24323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Martingale Property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27432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Wₜ is a martingale: E[Wₜ | ℱₛ] = Wₛ. Increments have mean zero — Brownian motion models pure noise with no drift.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0040" y="391363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consequence:  Because dW/dt doesn't exist, we cannot write dWₜ as a classical differential. We need a new theory of integration — Itô calculus.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56032"/>
            <a:ext cx="1280160" cy="256032"/>
          </a:xfrm>
          <a:prstGeom prst="rect">
            <a:avLst>
              <a:gd name="adj" fmla="val 14286"/>
            </a:avLst>
          </a:prstGeom>
          <a:solidFill>
            <a:srgbClr val="4ECDC4">
              <a:alpha val="80000"/>
            </a:srgbClr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Variation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conceptual hinge — why Itô's lemma has an extra term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1828800" cy="3657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Variation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78992"/>
            <a:ext cx="109728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56032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4ECDC4">
              <a:alpha val="80000"/>
            </a:srgbClr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14800" cy="1234440"/>
          </a:xfrm>
          <a:prstGeom prst="rect">
            <a:avLst/>
          </a:prstGeom>
          <a:solidFill>
            <a:srgbClr val="13132B"/>
          </a:solidFill>
          <a:ln w="12700">
            <a:solidFill>
              <a:srgbClr val="1E1E3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54864" cy="123444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618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58191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quadratic variation of W over [0,T] is the limit of squared increments over partitions: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487168"/>
            <a:ext cx="4114800" cy="384048"/>
          </a:xfrm>
          <a:prstGeom prst="rect">
            <a:avLst/>
          </a:prstGeom>
          <a:solidFill>
            <a:srgbClr val="0A0A20"/>
          </a:solidFill>
          <a:ln w="19050">
            <a:solidFill>
              <a:srgbClr val="4ECD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2487168"/>
            <a:ext cx="3968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[W,W]ₜ  =  lim Σ(ΔWᵢ)²  =  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17720" y="1234440"/>
            <a:ext cx="4160520" cy="1234440"/>
          </a:xfrm>
          <a:prstGeom prst="rect">
            <a:avLst/>
          </a:prstGeom>
          <a:solidFill>
            <a:srgbClr val="13132B"/>
          </a:solidFill>
          <a:ln w="12700">
            <a:solidFill>
              <a:srgbClr val="1E1E3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234440"/>
            <a:ext cx="54864" cy="12344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2618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Functions vs. Brownian Motion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58191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f:   [f,f]ₜ = 0  (increments → 0 faster than squares)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Brownian:  [W,W]ₜ = T  (increments remain O(√dt))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17720" y="2487168"/>
            <a:ext cx="4160520" cy="384048"/>
          </a:xfrm>
          <a:prstGeom prst="rect">
            <a:avLst/>
          </a:prstGeom>
          <a:solidFill>
            <a:srgbClr val="0A0A20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0872" y="2487168"/>
            <a:ext cx="4014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dWₜ²  =  dt     (the heuristic rule)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2971800"/>
            <a:ext cx="8503920" cy="1600200"/>
          </a:xfrm>
          <a:prstGeom prst="rect">
            <a:avLst/>
          </a:prstGeom>
          <a:solidFill>
            <a:srgbClr val="080815"/>
          </a:solidFill>
          <a:ln w="19050">
            <a:solidFill>
              <a:srgbClr val="4ECD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the Conceptual Hinge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3364992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apply Taylor's theorem to f(Wₜ), you get terms in dW, dt, dW², dt², dW·dt. For smooth functions, all second-order terms vanish (dW² ~ 0). But because [W,W]ₜ = T, the term dW² = dt does NOT vanish — it's the same order as dt. This is exactly where the extra ½fₓₓ dt term in Itô's lemma comes from. Without quadratic variation, Itô's lemma is magic. With it, it's just Taylor's theorem.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56032"/>
            <a:ext cx="1280160" cy="256032"/>
          </a:xfrm>
          <a:prstGeom prst="rect">
            <a:avLst>
              <a:gd name="adj" fmla="val 14286"/>
            </a:avLst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Itô Integral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against Brownian motion — and its L² isometry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18288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Itô Integral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78992"/>
            <a:ext cx="109728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56032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14800" cy="1371600"/>
          </a:xfrm>
          <a:prstGeom prst="rect">
            <a:avLst/>
          </a:prstGeom>
          <a:solidFill>
            <a:srgbClr val="13132B"/>
          </a:solidFill>
          <a:ln w="12700">
            <a:solidFill>
              <a:srgbClr val="1E1E3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54864" cy="13716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618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(Black Box)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58191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for simple (step-function) adapted processes H, then extend by L² limits. The key requirement is that Hₜ is adapted — no looking into the future.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633472"/>
            <a:ext cx="4114800" cy="384048"/>
          </a:xfrm>
          <a:prstGeom prst="rect">
            <a:avLst/>
          </a:prstGeom>
          <a:solidFill>
            <a:srgbClr val="0A0A20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2633472"/>
            <a:ext cx="3968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∫₀ᵀ Hₛ dWₛ  =  lim Σ H(tᵢ)(W(tᵢ₊₁) − W(tᵢ))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1234440"/>
            <a:ext cx="4160520" cy="1783080"/>
          </a:xfrm>
          <a:prstGeom prst="rect">
            <a:avLst/>
          </a:prstGeom>
          <a:solidFill>
            <a:srgbClr val="13132B"/>
          </a:solidFill>
          <a:ln w="12700">
            <a:solidFill>
              <a:srgbClr val="1E1E3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234440"/>
            <a:ext cx="54864" cy="17830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2618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Itô Isometry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5819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computational identity: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17720" y="1920240"/>
            <a:ext cx="4160520" cy="457200"/>
          </a:xfrm>
          <a:prstGeom prst="rect">
            <a:avLst/>
          </a:prstGeom>
          <a:solidFill>
            <a:srgbClr val="0A0A20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0872" y="1920240"/>
            <a:ext cx="4014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E[ (∫₀ᵀ Hₛ dWₛ)² ]  =  E[ ∫₀ᵀ Hₛ² ds 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239572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L² norm in stochastic sense to L² norm in dt sense.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127248"/>
            <a:ext cx="4114800" cy="960120"/>
          </a:xfrm>
          <a:prstGeom prst="rect">
            <a:avLst/>
          </a:prstGeom>
          <a:solidFill>
            <a:srgbClr val="13132B"/>
          </a:solidFill>
          <a:ln w="12700">
            <a:solidFill>
              <a:srgbClr val="1E1E3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127248"/>
            <a:ext cx="54864" cy="96012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1638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Martingale Property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34747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Itô integral is a martingale: E[∫₀ᵗ Hₛ dWₛ | ℱᵣ] = ∫₀ʳ Hₛ dWₛ for r ≤ 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17720" y="3127248"/>
            <a:ext cx="4160520" cy="960120"/>
          </a:xfrm>
          <a:prstGeom prst="rect">
            <a:avLst/>
          </a:prstGeom>
          <a:solidFill>
            <a:srgbClr val="13132B"/>
          </a:solidFill>
          <a:ln w="12700">
            <a:solidFill>
              <a:srgbClr val="1E1E3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3127248"/>
            <a:ext cx="54864" cy="96012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16382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Expectation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00600" y="347472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E[∫₀ᵀ Hₛ dWₛ] = 0  always. The stochastic integral has no drift by construction — all the drift lives in the dt terms of an SDE.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0040" y="41605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The Itô integral evaluates H at the LEFT endpoint of each subinterval — this (not Stratonovich) is the convention in finance.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4D8B"/>
          </a:solidFill>
          <a:ln w="12700">
            <a:solidFill>
              <a:srgbClr val="FF4D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56032"/>
            <a:ext cx="1280160" cy="256032"/>
          </a:xfrm>
          <a:prstGeom prst="rect">
            <a:avLst>
              <a:gd name="adj" fmla="val 14286"/>
            </a:avLst>
          </a:prstGeom>
          <a:solidFill>
            <a:srgbClr val="FF4D8B">
              <a:alpha val="80000"/>
            </a:srgbClr>
          </a:solidFill>
          <a:ln w="12700">
            <a:solidFill>
              <a:srgbClr val="FF4D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Itô's Lemma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stochastic chain rule — Taylor's theorem meets quadratic variation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1828800" cy="36576"/>
          </a:xfrm>
          <a:prstGeom prst="rect">
            <a:avLst/>
          </a:prstGeom>
          <a:solidFill>
            <a:srgbClr val="FF4D8B"/>
          </a:solidFill>
          <a:ln w="12700">
            <a:solidFill>
              <a:srgbClr val="FF4D8B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Itô's Lemma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78992"/>
            <a:ext cx="109728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56032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FF4D8B">
              <a:alpha val="80000"/>
            </a:srgbClr>
          </a:solidFill>
          <a:ln w="12700">
            <a:solidFill>
              <a:srgbClr val="FF4D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8503920" cy="960120"/>
          </a:xfrm>
          <a:prstGeom prst="rect">
            <a:avLst/>
          </a:prstGeom>
          <a:solidFill>
            <a:srgbClr val="13132B"/>
          </a:solidFill>
          <a:ln w="12700">
            <a:solidFill>
              <a:srgbClr val="1E1E3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54864" cy="960120"/>
          </a:xfrm>
          <a:prstGeom prst="rect">
            <a:avLst/>
          </a:prstGeom>
          <a:solidFill>
            <a:srgbClr val="FF4D8B"/>
          </a:solidFill>
          <a:ln w="12700">
            <a:solidFill>
              <a:srgbClr val="FF4D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61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 —  for f(t, Wₜ) where f is twice continuously differentiable: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581912"/>
            <a:ext cx="8503920" cy="502920"/>
          </a:xfrm>
          <a:prstGeom prst="rect">
            <a:avLst/>
          </a:prstGeom>
          <a:solidFill>
            <a:srgbClr val="0A0A20"/>
          </a:solidFill>
          <a:ln w="19050">
            <a:solidFill>
              <a:srgbClr val="FF4D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581912"/>
            <a:ext cx="8357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D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df(t,Wₜ)  =  fₜ dt  +  fₓ dWₜ  +  ½ fₓₓ dt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212848"/>
            <a:ext cx="4114800" cy="1572768"/>
          </a:xfrm>
          <a:prstGeom prst="rect">
            <a:avLst/>
          </a:prstGeom>
          <a:solidFill>
            <a:srgbClr val="13132B"/>
          </a:solidFill>
          <a:ln w="12700">
            <a:solidFill>
              <a:srgbClr val="1E1E3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212848"/>
            <a:ext cx="54864" cy="15727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2494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 Sketch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523744"/>
            <a:ext cx="374904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Taylor expand f(t+dt, Wₜ₊dt)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Keep to O(dt):  df ≈ fₜ dt + fₓ dW + ½fₓₓ dW²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Replace dW² = dt  (quadratic variation)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Drop dt·dW, dt²  →  extra ½fₓₓ dt appears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2212848"/>
            <a:ext cx="4160520" cy="1572768"/>
          </a:xfrm>
          <a:prstGeom prst="rect">
            <a:avLst/>
          </a:prstGeom>
          <a:solidFill>
            <a:srgbClr val="13132B"/>
          </a:solidFill>
          <a:ln w="12700">
            <a:solidFill>
              <a:srgbClr val="1E1E3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2212848"/>
            <a:ext cx="54864" cy="15727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2494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 d(Wₜ²)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25328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x²,  fₓ = 2x,  fₓₓ = 2.  Applying Itô: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2852928"/>
            <a:ext cx="4160520" cy="384048"/>
          </a:xfrm>
          <a:prstGeom prst="rect">
            <a:avLst/>
          </a:prstGeom>
          <a:solidFill>
            <a:srgbClr val="0A0A20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90872" y="2852928"/>
            <a:ext cx="4014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d(Wₜ²)  =  2Wₜ dWₜ  +  dt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32644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integral form: Wₜ² = 2∫Wₛ dWₛ + t.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+t correction is absent in classical calculus.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3877056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½fₓₓ dt term has no classical analogue — it vanishes when σ=0, recovering ordinary calculus.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56032"/>
            <a:ext cx="1280160" cy="256032"/>
          </a:xfrm>
          <a:prstGeom prst="rect">
            <a:avLst>
              <a:gd name="adj" fmla="val 14286"/>
            </a:avLst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Differential Equations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 driven by Brownian noise — from notation to GBM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182880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Differential Equations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78992"/>
            <a:ext cx="109728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56032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8503920" cy="713232"/>
          </a:xfrm>
          <a:prstGeom prst="rect">
            <a:avLst/>
          </a:prstGeom>
          <a:solidFill>
            <a:srgbClr val="13132B"/>
          </a:solidFill>
          <a:ln w="12700">
            <a:solidFill>
              <a:srgbClr val="1E1E3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54864" cy="7132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6187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SDE is shorthand for an integral equation — dWₜ does not exist as a derivative: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581912"/>
            <a:ext cx="8503920" cy="384048"/>
          </a:xfrm>
          <a:prstGeom prst="rect">
            <a:avLst/>
          </a:prstGeom>
          <a:solidFill>
            <a:srgbClr val="0A0A20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581912"/>
            <a:ext cx="8357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dXₜ = μ(Xₜ,t) dt + σ(Xₜ,t) dWₜ   means   Xₜ = X₀ + ∫μ ds + ∫σ dWₛ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084832"/>
            <a:ext cx="4114800" cy="2240280"/>
          </a:xfrm>
          <a:prstGeom prst="rect">
            <a:avLst/>
          </a:prstGeom>
          <a:solidFill>
            <a:srgbClr val="13132B"/>
          </a:solidFill>
          <a:ln w="12700">
            <a:solidFill>
              <a:srgbClr val="1E1E3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084832"/>
            <a:ext cx="54864" cy="22402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214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Brownian Motion (GBM)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39572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SDE:  dSₜ = μSₜ dt + σSₜ dWₜ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Itô to f = log(Sₜ):  fₓ = 1/S,  fₓₓ = −1/S²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d(log Sₜ) = (μ − ½σ²) dt + σ dWₜ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both sides: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419856"/>
            <a:ext cx="4114800" cy="384048"/>
          </a:xfrm>
          <a:prstGeom prst="rect">
            <a:avLst/>
          </a:prstGeom>
          <a:solidFill>
            <a:srgbClr val="0A0A20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3419856"/>
            <a:ext cx="3968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Sₜ = S₀ exp((μ − ½σ²)t + σWₜ)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17720" y="2084832"/>
            <a:ext cx="4160520" cy="2240280"/>
          </a:xfrm>
          <a:prstGeom prst="rect">
            <a:avLst/>
          </a:prstGeom>
          <a:solidFill>
            <a:srgbClr val="13132B"/>
          </a:solidFill>
          <a:ln w="12700">
            <a:solidFill>
              <a:srgbClr val="1E1E3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2084832"/>
            <a:ext cx="54864" cy="224028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1214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GBM?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2395728"/>
            <a:ext cx="3840480" cy="1892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Sₜ &gt; 0  always  (prices can't go negative)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log(Sₜ/Sₛ) are normally distributed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μ: drift (expected return)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σ: volatility (noise intensity)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½σ² Itô correction means expected log-return ≠ μ — critical for option pricing.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0040" y="4407408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 is the foundation of Black-Scholes. Every major option pricing model either uses it or departs from it deliberately.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56032"/>
            <a:ext cx="1280160" cy="256032"/>
          </a:xfrm>
          <a:prstGeom prst="rect">
            <a:avLst>
              <a:gd name="adj" fmla="val 14286"/>
            </a:avLst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Feynman-Kac Theorem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between stochastic processes and PDEs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18288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Feynman-Kac Theorem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78992"/>
            <a:ext cx="109728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56032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8503920" cy="1371600"/>
          </a:xfrm>
          <a:prstGeom prst="rect">
            <a:avLst/>
          </a:prstGeom>
          <a:solidFill>
            <a:srgbClr val="13132B"/>
          </a:solidFill>
          <a:ln w="12700">
            <a:solidFill>
              <a:srgbClr val="1E1E3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54864" cy="13716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61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58191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dXₜ = μ(Xₜ,t) dt + σ(Xₜ,t) dWₜ, then the function: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901952"/>
            <a:ext cx="8503920" cy="411480"/>
          </a:xfrm>
          <a:prstGeom prst="rect">
            <a:avLst/>
          </a:prstGeom>
          <a:solidFill>
            <a:srgbClr val="0A0A20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1901952"/>
            <a:ext cx="8357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u(t,x) = E^x[ e^{−r(T−t)} g(Xₜ) 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331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the PDE:  uₜ + μ uₓ + ½σ² uₓₓ − r u = 0,  with terminal condition u(T,x) = g(x)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724912"/>
            <a:ext cx="4114800" cy="1508760"/>
          </a:xfrm>
          <a:prstGeom prst="rect">
            <a:avLst/>
          </a:prstGeom>
          <a:solidFill>
            <a:srgbClr val="13132B"/>
          </a:solidFill>
          <a:ln w="12700">
            <a:solidFill>
              <a:srgbClr val="1E1E3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724912"/>
            <a:ext cx="54864" cy="1508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614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SDEs ↔ PDEs Bridge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054096"/>
            <a:ext cx="374904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Feynman-Kac gives a probabilistic representation of PDE solutions. Instead of solving the PDE analytically, compute an expectation under the SDE dynamics. This is the foundation of Monte Carlo methods in derivatives pricing.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2724912"/>
            <a:ext cx="4160520" cy="1508760"/>
          </a:xfrm>
          <a:prstGeom prst="rect">
            <a:avLst/>
          </a:prstGeom>
          <a:solidFill>
            <a:srgbClr val="13132B"/>
          </a:solidFill>
          <a:ln w="12700">
            <a:solidFill>
              <a:srgbClr val="1E1E3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2724912"/>
            <a:ext cx="54864" cy="1508760"/>
          </a:xfrm>
          <a:prstGeom prst="rect">
            <a:avLst/>
          </a:prstGeom>
          <a:solidFill>
            <a:srgbClr val="FF4D8B"/>
          </a:solidFill>
          <a:ln w="12700">
            <a:solidFill>
              <a:srgbClr val="FF4D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7614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Black-Scholes via Feynman-Kac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3044952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Xₜ = GBM (risk-neutral Q),  g = (Sₜ−K)⁺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u(t,S) = E^Q[e^{−r(T−t)}(Sₜ−K)⁺]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satisfies the Black-Scholes PDE.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00600" y="3886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Black-Scholes IS Feynman-Kac.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432511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Solve a hard PDE by simulating an easy SDE. Or: understand what expectation a PDE solution represents. These are the same statement.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Logical Chain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09728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987552" cy="1234440"/>
          </a:xfrm>
          <a:prstGeom prst="rect">
            <a:avLst/>
          </a:prstGeom>
          <a:solidFill>
            <a:srgbClr val="13132B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987552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896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9611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(Ω, F, P), filtrations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307592" y="1623060"/>
            <a:ext cx="64008" cy="0"/>
          </a:xfrm>
          <a:prstGeom prst="line">
            <a:avLst/>
          </a:prstGeom>
          <a:noFill/>
          <a:ln w="12700">
            <a:solidFill>
              <a:srgbClr val="6B7A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1005840"/>
            <a:ext cx="987552" cy="1234440"/>
          </a:xfrm>
          <a:prstGeom prst="rect">
            <a:avLst/>
          </a:prstGeom>
          <a:solidFill>
            <a:srgbClr val="13132B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005840"/>
            <a:ext cx="987552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1097280"/>
            <a:ext cx="896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Martingales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1755648"/>
            <a:ext cx="89611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E[Xₜ|ℱₛ] = Xₛ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359152" y="1623060"/>
            <a:ext cx="64008" cy="0"/>
          </a:xfrm>
          <a:prstGeom prst="line">
            <a:avLst/>
          </a:prstGeom>
          <a:noFill/>
          <a:ln w="12700">
            <a:solidFill>
              <a:srgbClr val="6B7A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23160" y="1005840"/>
            <a:ext cx="987552" cy="1234440"/>
          </a:xfrm>
          <a:prstGeom prst="rect">
            <a:avLst/>
          </a:prstGeom>
          <a:solidFill>
            <a:srgbClr val="13132B"/>
          </a:solidFill>
          <a:ln w="19050">
            <a:solidFill>
              <a:srgbClr val="7C5C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23160" y="1005840"/>
            <a:ext cx="987552" cy="54864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1097280"/>
            <a:ext cx="896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Brownian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68880" y="1755648"/>
            <a:ext cx="89611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nowhere diff.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10712" y="1623060"/>
            <a:ext cx="64008" cy="0"/>
          </a:xfrm>
          <a:prstGeom prst="line">
            <a:avLst/>
          </a:prstGeom>
          <a:noFill/>
          <a:ln w="12700">
            <a:solidFill>
              <a:srgbClr val="6B7A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005840"/>
            <a:ext cx="987552" cy="1234440"/>
          </a:xfrm>
          <a:prstGeom prst="rect">
            <a:avLst/>
          </a:prstGeom>
          <a:solidFill>
            <a:srgbClr val="13132B"/>
          </a:solidFill>
          <a:ln w="19050">
            <a:solidFill>
              <a:srgbClr val="4ECD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1005840"/>
            <a:ext cx="987552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1097280"/>
            <a:ext cx="896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20440" y="1755648"/>
            <a:ext cx="89611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dW² = dt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462272" y="1623060"/>
            <a:ext cx="64008" cy="0"/>
          </a:xfrm>
          <a:prstGeom prst="line">
            <a:avLst/>
          </a:prstGeom>
          <a:noFill/>
          <a:ln w="12700">
            <a:solidFill>
              <a:srgbClr val="6B7A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26280" y="1005840"/>
            <a:ext cx="987552" cy="1234440"/>
          </a:xfrm>
          <a:prstGeom prst="rect">
            <a:avLst/>
          </a:prstGeom>
          <a:solidFill>
            <a:srgbClr val="13132B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1005840"/>
            <a:ext cx="987552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1097280"/>
            <a:ext cx="896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1755648"/>
            <a:ext cx="89611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L² martingale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513832" y="1623060"/>
            <a:ext cx="64008" cy="0"/>
          </a:xfrm>
          <a:prstGeom prst="line">
            <a:avLst/>
          </a:prstGeom>
          <a:noFill/>
          <a:ln w="12700">
            <a:solidFill>
              <a:srgbClr val="6B7A9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77840" y="1005840"/>
            <a:ext cx="987552" cy="1234440"/>
          </a:xfrm>
          <a:prstGeom prst="rect">
            <a:avLst/>
          </a:prstGeom>
          <a:solidFill>
            <a:srgbClr val="13132B"/>
          </a:solidFill>
          <a:ln w="19050">
            <a:solidFill>
              <a:srgbClr val="FF4D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77840" y="1005840"/>
            <a:ext cx="987552" cy="54864"/>
          </a:xfrm>
          <a:prstGeom prst="rect">
            <a:avLst/>
          </a:prstGeom>
          <a:solidFill>
            <a:srgbClr val="FF4D8B"/>
          </a:solidFill>
          <a:ln w="12700">
            <a:solidFill>
              <a:srgbClr val="FF4D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23560" y="1097280"/>
            <a:ext cx="896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Itô's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23560" y="1755648"/>
            <a:ext cx="89611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chain rule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565392" y="1623060"/>
            <a:ext cx="64008" cy="0"/>
          </a:xfrm>
          <a:prstGeom prst="line">
            <a:avLst/>
          </a:prstGeom>
          <a:noFill/>
          <a:ln w="12700">
            <a:solidFill>
              <a:srgbClr val="6B7A9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29400" y="1005840"/>
            <a:ext cx="987552" cy="1234440"/>
          </a:xfrm>
          <a:prstGeom prst="rect">
            <a:avLst/>
          </a:prstGeom>
          <a:solidFill>
            <a:srgbClr val="13132B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29400" y="1005840"/>
            <a:ext cx="987552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1097280"/>
            <a:ext cx="896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75120" y="1755648"/>
            <a:ext cx="89611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GBM, dynamics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616952" y="1623060"/>
            <a:ext cx="64008" cy="0"/>
          </a:xfrm>
          <a:prstGeom prst="line">
            <a:avLst/>
          </a:prstGeom>
          <a:noFill/>
          <a:ln w="12700">
            <a:solidFill>
              <a:srgbClr val="6B7A9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80960" y="1005840"/>
            <a:ext cx="987552" cy="1234440"/>
          </a:xfrm>
          <a:prstGeom prst="rect">
            <a:avLst/>
          </a:prstGeom>
          <a:solidFill>
            <a:srgbClr val="13132B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80960" y="1005840"/>
            <a:ext cx="987552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26680" y="1097280"/>
            <a:ext cx="896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Feynman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-Kac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726680" y="1755648"/>
            <a:ext cx="89611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SDEs ↔ PDEs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0040" y="2395728"/>
            <a:ext cx="2743200" cy="914400"/>
          </a:xfrm>
          <a:prstGeom prst="rect">
            <a:avLst/>
          </a:prstGeom>
          <a:solidFill>
            <a:srgbClr val="13132B"/>
          </a:solidFill>
          <a:ln w="12700">
            <a:solidFill>
              <a:srgbClr val="1E1E3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20040" y="2395728"/>
            <a:ext cx="54864" cy="9144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243230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insight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02920" y="274320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variation is the hinge. Everything else follows from [W,W]ₜ = T.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18688" y="2395728"/>
            <a:ext cx="2743200" cy="914400"/>
          </a:xfrm>
          <a:prstGeom prst="rect">
            <a:avLst/>
          </a:prstGeom>
          <a:solidFill>
            <a:srgbClr val="13132B"/>
          </a:solidFill>
          <a:ln w="12700">
            <a:solidFill>
              <a:srgbClr val="1E1E3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218688" y="2395728"/>
            <a:ext cx="54864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01568" y="243230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401568" y="274320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Itô's lemma = Taylor + dW² = dt. Not magic — just careful bookkeeping.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117336" y="2395728"/>
            <a:ext cx="2743200" cy="914400"/>
          </a:xfrm>
          <a:prstGeom prst="rect">
            <a:avLst/>
          </a:prstGeom>
          <a:solidFill>
            <a:srgbClr val="13132B"/>
          </a:solidFill>
          <a:ln w="12700">
            <a:solidFill>
              <a:srgbClr val="1E1E3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117336" y="2395728"/>
            <a:ext cx="54864" cy="914400"/>
          </a:xfrm>
          <a:prstGeom prst="rect">
            <a:avLst/>
          </a:prstGeom>
          <a:solidFill>
            <a:srgbClr val="FF4D8B"/>
          </a:solidFill>
          <a:ln w="12700">
            <a:solidFill>
              <a:srgbClr val="FF4D8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00216" y="243230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300216" y="274320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Feynman-Kac connects stochastic and deterministic worlds. Black-Scholes is the canonical example.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20040" y="438912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TAMID Quant  |  NYU  |  Spring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Stochastic Calculus</dc:title>
  <dc:subject>PptxGenJS Presentation</dc:subject>
  <dc:creator>PptxGenJS</dc:creator>
  <cp:lastModifiedBy>PptxGenJS</cp:lastModifiedBy>
  <cp:revision>1</cp:revision>
  <dcterms:created xsi:type="dcterms:W3CDTF">2026-03-25T22:03:35Z</dcterms:created>
  <dcterms:modified xsi:type="dcterms:W3CDTF">2026-03-25T22:03:35Z</dcterms:modified>
</cp:coreProperties>
</file>